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Seconds</c:v>
                </c:pt>
              </c:strCache>
            </c:strRef>
          </c:tx>
          <c:spPr>
            <a:solidFill>
              <a:srgbClr val="0E7D8C"/>
            </a:solidFill>
            <a:effectLst/>
          </c:spPr>
          <c:invertIfNegative val="0"/>
          <c:dLbls>
            <c:numFmt formatCode="0.00" sourceLinked="0"/>
            <c:txPr>
              <a:bodyPr/>
              <a:lstStyle/>
              <a:p>
                <a:pPr>
                  <a:defRPr b="0" i="0" strike="noStrike" sz="950" u="none">
                    <a:solidFill>
                      <a:srgbClr val="2B3A44"/>
                    </a:solidFill>
                    <a:latin typeface="Arial"/>
                  </a:defRPr>
                </a:pPr>
              </a:p>
            </c:txPr>
            <c:showLegendKey val="0"/>
            <c:showVal val="1"/>
            <c:showCatName val="0"/>
            <c:showSerName val="0"/>
            <c:showPercent val="0"/>
            <c:showBubbleSize val="0"/>
            <c:showLeaderLines val="0"/>
          </c:dLbls>
          <c:cat>
            <c:multiLvlStrRef>
              <c:f>Sheet1!$A$2:$A$9</c:f>
              <c:multiLvlStrCache>
                <c:ptCount val="8"/>
                <c:lvl>
                  <c:pt idx="0">
                    <c:v>plan_briefs</c:v>
                  </c:pt>
                  <c:pt idx="1">
                    <c:v>validate</c:v>
                  </c:pt>
                  <c:pt idx="2">
                    <c:v>preprocess</c:v>
                  </c:pt>
                  <c:pt idx="3">
                    <c:v>signature</c:v>
                  </c:pt>
                  <c:pt idx="4">
                    <c:v>diversity_embed</c:v>
                  </c:pt>
                  <c:pt idx="5">
                    <c:v>segment</c:v>
                  </c:pt>
                  <c:pt idx="6">
                    <c:v>export</c:v>
                  </c:pt>
                  <c:pt idx="7">
                    <c:v>score_all</c:v>
                  </c:pt>
                </c:lvl>
              </c:multiLvlStrCache>
            </c:multiLvlStrRef>
          </c:cat>
          <c:val>
            <c:numRef>
              <c:f>Sheet1!$B$2:$B$9</c:f>
              <c:numCache>
                <c:formatCode>General</c:formatCode>
                <c:ptCount val="8"/>
                <c:pt idx="0">
                  <c:v>0.003</c:v>
                </c:pt>
                <c:pt idx="1">
                  <c:v>0.02</c:v>
                </c:pt>
                <c:pt idx="2">
                  <c:v>0.145</c:v>
                </c:pt>
                <c:pt idx="3">
                  <c:v>3.455</c:v>
                </c:pt>
                <c:pt idx="4">
                  <c:v>5.533</c:v>
                </c:pt>
                <c:pt idx="5">
                  <c:v>5.682</c:v>
                </c:pt>
                <c:pt idx="6">
                  <c:v>26.283</c:v>
                </c:pt>
                <c:pt idx="7">
                  <c:v>180.037</c:v>
                </c:pt>
              </c:numCache>
            </c:numRef>
          </c:val>
        </c:ser>
        <c:dLbls>
          <c:numFmt formatCode="0.00" sourceLinked="0"/>
          <c:txPr>
            <a:bodyPr/>
            <a:lstStyle/>
            <a:p>
              <a:pPr>
                <a:defRPr b="0" i="0" strike="noStrike" sz="950" u="none">
                  <a:solidFill>
                    <a:srgbClr val="2B3A44"/>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3A44"/>
                </a:solidFill>
                <a:latin typeface="Arial"/>
              </a:defRPr>
            </a:pPr>
            <a:endParaRPr lang="en-US"/>
          </a:p>
        </c:txPr>
        <c:crossAx val="2094734552"/>
        <c:crosses val="autoZero"/>
        <c:auto val="1"/>
        <c:lblAlgn val="ctr"/>
        <c:noMultiLvlLbl val="1"/>
      </c:catAx>
      <c:valAx>
        <c:axId val="2094734552"/>
        <c:scaling>
          <c:orientation val="minMax"/>
          <c:max val="200"/>
          <c:min val="0"/>
        </c:scaling>
        <c:delete val="0"/>
        <c:axPos val="b"/>
        <c:majorGridlines>
          <c:spPr>
            <a:ln w="9525" cap="flat">
              <a:solidFill>
                <a:srgbClr val="EDF1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A7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image in, multiple verified vertical ads out. We are the quality layer around an AI video generator, not another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named both failures. That is what makes this problem attackable — we are not guessing at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in one line. The two zones have opposite rules, and each has its own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always ask whether generation is automated. The answer is no, and we lead with it — the value is on either side of that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Mask-only measurement is the key design decision. Measuring the whole frame would drown the drift signal in the scene change we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≥3-axis rule is not hoped for — it is guaranteed by construction and then verified. That is what makes 'genuinely different' a claim we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weights were set from how each metric actually behaved in testing, not from how good it sounded. Colour is highest because a shifted dye is the most commercially damaging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checks caught this. And we checked frames before calling it — the colour number is real but it is not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proof that the QC is real. A judge can see the product shrink and the mask following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strongest single finding. It was not designed in — the numbers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is the honest bottleneck at 81%. It is CPU inference — we did not optimise it away,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inputs arrived at 768x1152, not the 9:16 the generator was told to produce. Conversion is an explicit stage and conformance is verified from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testing finds problems in your own process. This is the single most important thing to fix before a wider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test claims. Everything here is something we could have hidden and chose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two-gate finding. It is memorable, it is ours, and it came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1F"/>
        </a:solidFill>
      </p:bgPr>
    </p:bg>
    <p:spTree>
      <p:nvGrpSpPr>
        <p:cNvPr id="1" name=""/>
        <p:cNvGrpSpPr/>
        <p:nvPr/>
      </p:nvGrpSpPr>
      <p:grpSpPr>
        <a:xfrm>
          <a:off x="0" y="0"/>
          <a:ext cx="0" cy="0"/>
          <a:chOff x="0" y="0"/>
          <a:chExt cx="0" cy="0"/>
        </a:xfrm>
      </p:grpSpPr>
      <p:sp>
        <p:nvSpPr>
          <p:cNvPr id="2" name="Text 0"/>
          <p:cNvSpPr/>
          <p:nvPr/>
        </p:nvSpPr>
        <p:spPr>
          <a:xfrm>
            <a:off x="566928" y="2057400"/>
            <a:ext cx="87782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Product Fidelity Studio</a:t>
            </a:r>
            <a:endParaRPr lang="en-US" sz="4600" dirty="0"/>
          </a:p>
        </p:txBody>
      </p:sp>
      <p:sp>
        <p:nvSpPr>
          <p:cNvPr id="3" name="Text 1"/>
          <p:cNvSpPr/>
          <p:nvPr/>
        </p:nvSpPr>
        <p:spPr>
          <a:xfrm>
            <a:off x="566928" y="3017520"/>
            <a:ext cx="8778240" cy="457200"/>
          </a:xfrm>
          <a:prstGeom prst="rect">
            <a:avLst/>
          </a:prstGeom>
          <a:noFill/>
          <a:ln/>
        </p:spPr>
        <p:txBody>
          <a:bodyPr wrap="square" lIns="0" tIns="0" rIns="0" bIns="0" rtlCol="0" anchor="ctr"/>
          <a:lstStyle/>
          <a:p>
            <a:pPr indent="0" marL="0">
              <a:buNone/>
            </a:pPr>
            <a:r>
              <a:rPr lang="en-US" sz="1800" dirty="0">
                <a:solidFill>
                  <a:srgbClr val="9FB3BD"/>
                </a:solidFill>
                <a:latin typeface="Calibri" pitchFamily="34" charset="0"/>
                <a:ea typeface="Calibri" pitchFamily="34" charset="-122"/>
                <a:cs typeface="Calibri" pitchFamily="34" charset="-120"/>
              </a:rPr>
              <a:t>Quality control for AI-generated fashion advertising</a:t>
            </a:r>
            <a:endParaRPr lang="en-US" sz="1800" dirty="0"/>
          </a:p>
        </p:txBody>
      </p:sp>
      <p:sp>
        <p:nvSpPr>
          <p:cNvPr id="4" name="Shape 2"/>
          <p:cNvSpPr/>
          <p:nvPr/>
        </p:nvSpPr>
        <p:spPr>
          <a:xfrm>
            <a:off x="566928" y="3703320"/>
            <a:ext cx="1005840" cy="32004"/>
          </a:xfrm>
          <a:prstGeom prst="rect">
            <a:avLst/>
          </a:prstGeom>
          <a:solidFill>
            <a:srgbClr val="0E7D8C"/>
          </a:solidFill>
          <a:ln/>
        </p:spPr>
      </p:sp>
      <p:sp>
        <p:nvSpPr>
          <p:cNvPr id="5" name="Text 3"/>
          <p:cNvSpPr/>
          <p:nvPr/>
        </p:nvSpPr>
        <p:spPr>
          <a:xfrm>
            <a:off x="566928" y="3977640"/>
            <a:ext cx="54864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Code Blooded</a:t>
            </a:r>
            <a:endParaRPr lang="en-US" sz="1500" dirty="0"/>
          </a:p>
        </p:txBody>
      </p:sp>
      <p:sp>
        <p:nvSpPr>
          <p:cNvPr id="6" name="Text 4"/>
          <p:cNvSpPr/>
          <p:nvPr/>
        </p:nvSpPr>
        <p:spPr>
          <a:xfrm>
            <a:off x="566928" y="4315968"/>
            <a:ext cx="6400800" cy="640080"/>
          </a:xfrm>
          <a:prstGeom prst="rect">
            <a:avLst/>
          </a:prstGeom>
          <a:noFill/>
          <a:ln/>
        </p:spPr>
        <p:txBody>
          <a:bodyPr wrap="square" lIns="0" tIns="0" rIns="0" bIns="0" rtlCol="0" anchor="ctr"/>
          <a:lstStyle/>
          <a:p>
            <a:pPr indent="0" marL="0">
              <a:lnSpc>
                <a:spcPts val="1700"/>
              </a:lnSpc>
              <a:buNone/>
            </a:pPr>
            <a:r>
              <a:rPr lang="en-US" sz="1250" dirty="0">
                <a:solidFill>
                  <a:srgbClr val="6A7B87"/>
                </a:solidFill>
                <a:latin typeface="Calibri" pitchFamily="34" charset="0"/>
                <a:ea typeface="Calibri" pitchFamily="34" charset="-122"/>
                <a:cs typeface="Calibri" pitchFamily="34" charset="-120"/>
              </a:rPr>
              <a:t>Milestone 3  ·  GigPoint Hackathon, 22 August 2026</a:t>
            </a:r>
            <a:endParaRPr lang="en-US" sz="1250" dirty="0"/>
          </a:p>
          <a:p>
            <a:pPr indent="0" marL="0">
              <a:lnSpc>
                <a:spcPts val="1700"/>
              </a:lnSpc>
              <a:buNone/>
            </a:pPr>
            <a:r>
              <a:rPr lang="en-US" sz="1250" dirty="0">
                <a:solidFill>
                  <a:srgbClr val="6A7B87"/>
                </a:solidFill>
                <a:latin typeface="Calibri" pitchFamily="34" charset="0"/>
                <a:ea typeface="Calibri" pitchFamily="34" charset="-122"/>
                <a:cs typeface="Calibri" pitchFamily="34" charset="-120"/>
              </a:rPr>
              <a:t>Problem 2 — AI Ad Generation  ·  Client: Kaladhar</a:t>
            </a:r>
            <a:endParaRPr lang="en-US" sz="1250" dirty="0"/>
          </a:p>
        </p:txBody>
      </p:sp>
      <p:pic>
        <p:nvPicPr>
          <p:cNvPr id="7" name="Image 0" descr="C:\Users\Rahil Ahmed\Desktop\GIGCB\evidence\m3_export_frames\ROOFTOP-night.png">    </p:cNvPr>
          <p:cNvPicPr>
            <a:picLocks noChangeAspect="1"/>
          </p:cNvPicPr>
          <p:nvPr/>
        </p:nvPicPr>
        <p:blipFill>
          <a:blip r:embed="rId1"/>
          <a:stretch>
            <a:fillRect/>
          </a:stretch>
        </p:blipFill>
        <p:spPr>
          <a:xfrm>
            <a:off x="8732520" y="777240"/>
            <a:ext cx="1481328" cy="2633472"/>
          </a:xfrm>
          <a:prstGeom prst="rect">
            <a:avLst/>
          </a:prstGeom>
        </p:spPr>
      </p:pic>
      <p:pic>
        <p:nvPicPr>
          <p:cNvPr id="8" name="Image 1" descr="C:\Users\Rahil Ahmed\Desktop\GIGCB\evidence\m3_export_frames\MANDAP-dusk.png">    </p:cNvPr>
          <p:cNvPicPr>
            <a:picLocks noChangeAspect="1"/>
          </p:cNvPicPr>
          <p:nvPr/>
        </p:nvPicPr>
        <p:blipFill>
          <a:blip r:embed="rId2"/>
          <a:stretch>
            <a:fillRect/>
          </a:stretch>
        </p:blipFill>
        <p:spPr>
          <a:xfrm>
            <a:off x="10332720" y="777240"/>
            <a:ext cx="1481328" cy="2633472"/>
          </a:xfrm>
          <a:prstGeom prst="rect">
            <a:avLst/>
          </a:prstGeom>
        </p:spPr>
      </p:pic>
      <p:pic>
        <p:nvPicPr>
          <p:cNvPr id="9" name="Image 2" descr="C:\Users\Rahil Ahmed\Desktop\GIGCB\evidence\m3_export_frames\BASELINE-courtyard.png">    </p:cNvPr>
          <p:cNvPicPr>
            <a:picLocks noChangeAspect="1"/>
          </p:cNvPicPr>
          <p:nvPr/>
        </p:nvPicPr>
        <p:blipFill>
          <a:blip r:embed="rId3"/>
          <a:stretch>
            <a:fillRect/>
          </a:stretch>
        </p:blipFill>
        <p:spPr>
          <a:xfrm>
            <a:off x="8732520" y="3520440"/>
            <a:ext cx="1481328" cy="2633472"/>
          </a:xfrm>
          <a:prstGeom prst="rect">
            <a:avLst/>
          </a:prstGeom>
        </p:spPr>
      </p:pic>
      <p:sp>
        <p:nvSpPr>
          <p:cNvPr id="10" name="Text 5"/>
          <p:cNvSpPr/>
          <p:nvPr/>
        </p:nvSpPr>
        <p:spPr>
          <a:xfrm>
            <a:off x="10332720" y="4023360"/>
            <a:ext cx="1481328" cy="731520"/>
          </a:xfrm>
          <a:prstGeom prst="rect">
            <a:avLst/>
          </a:prstGeom>
          <a:noFill/>
          <a:ln/>
        </p:spPr>
        <p:txBody>
          <a:bodyPr wrap="square" lIns="0" tIns="0" rIns="0" bIns="0" rtlCol="0" anchor="ctr"/>
          <a:lstStyle/>
          <a:p>
            <a:pPr algn="ctr" indent="0" marL="0">
              <a:buNone/>
            </a:pPr>
            <a:r>
              <a:rPr lang="en-US" sz="4400" b="1" dirty="0">
                <a:solidFill>
                  <a:srgbClr val="0E7D8C"/>
                </a:solidFill>
                <a:latin typeface="Cambria" pitchFamily="34" charset="0"/>
                <a:ea typeface="Cambria" pitchFamily="34" charset="-122"/>
                <a:cs typeface="Cambria" pitchFamily="34" charset="-120"/>
              </a:rPr>
              <a:t>3</a:t>
            </a:r>
            <a:endParaRPr lang="en-US" sz="4400" dirty="0"/>
          </a:p>
        </p:txBody>
      </p:sp>
      <p:sp>
        <p:nvSpPr>
          <p:cNvPr id="11" name="Text 6"/>
          <p:cNvSpPr/>
          <p:nvPr/>
        </p:nvSpPr>
        <p:spPr>
          <a:xfrm>
            <a:off x="10332720" y="4773168"/>
            <a:ext cx="1481328" cy="640080"/>
          </a:xfrm>
          <a:prstGeom prst="rect">
            <a:avLst/>
          </a:prstGeom>
          <a:noFill/>
          <a:ln/>
        </p:spPr>
        <p:txBody>
          <a:bodyPr wrap="square" lIns="0" tIns="0" rIns="0" bIns="0" rtlCol="0" anchor="ctr"/>
          <a:lstStyle/>
          <a:p>
            <a:pPr algn="ctr" indent="0" marL="0">
              <a:lnSpc>
                <a:spcPts val="1400"/>
              </a:lnSpc>
              <a:buNone/>
            </a:pPr>
            <a:r>
              <a:rPr lang="en-US" sz="1050" dirty="0">
                <a:solidFill>
                  <a:srgbClr val="9FB3BD"/>
                </a:solidFill>
                <a:latin typeface="Calibri" pitchFamily="34" charset="0"/>
                <a:ea typeface="Calibri" pitchFamily="34" charset="-122"/>
                <a:cs typeface="Calibri" pitchFamily="34" charset="-120"/>
              </a:rPr>
              <a:t>delivered ads</a:t>
            </a:r>
            <a:endParaRPr lang="en-US" sz="1050" dirty="0"/>
          </a:p>
          <a:p>
            <a:pPr algn="ctr" indent="0" marL="0">
              <a:lnSpc>
                <a:spcPts val="1400"/>
              </a:lnSpc>
              <a:buNone/>
            </a:pPr>
            <a:r>
              <a:rPr lang="en-US" sz="1050" dirty="0">
                <a:solidFill>
                  <a:srgbClr val="9FB3BD"/>
                </a:solidFill>
                <a:latin typeface="Calibri" pitchFamily="34" charset="0"/>
                <a:ea typeface="Calibri" pitchFamily="34" charset="-122"/>
                <a:cs typeface="Calibri" pitchFamily="34" charset="-120"/>
              </a:rPr>
              <a:t>1080×1920 · 9:16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Two failures make AI ad tools unusable</a:t>
            </a:r>
            <a:endParaRPr lang="en-US" sz="3000" dirty="0"/>
          </a:p>
        </p:txBody>
      </p:sp>
      <p:sp>
        <p:nvSpPr>
          <p:cNvPr id="4" name="Text 2"/>
          <p:cNvSpPr/>
          <p:nvPr/>
        </p:nvSpPr>
        <p:spPr>
          <a:xfrm>
            <a:off x="566928" y="1371600"/>
            <a:ext cx="6766560" cy="640080"/>
          </a:xfrm>
          <a:prstGeom prst="rect">
            <a:avLst/>
          </a:prstGeom>
          <a:noFill/>
          <a:ln/>
        </p:spPr>
        <p:txBody>
          <a:bodyPr wrap="square" lIns="0" tIns="0" rIns="0" bIns="0" rtlCol="0" anchor="ctr"/>
          <a:lstStyle/>
          <a:p>
            <a:pPr indent="0" marL="0">
              <a:lnSpc>
                <a:spcPts val="2100"/>
              </a:lnSpc>
              <a:buNone/>
            </a:pPr>
            <a:r>
              <a:rPr lang="en-US" sz="1450" dirty="0">
                <a:solidFill>
                  <a:srgbClr val="6A7B87"/>
                </a:solidFill>
                <a:latin typeface="Calibri" pitchFamily="34" charset="0"/>
                <a:ea typeface="Calibri" pitchFamily="34" charset="-122"/>
                <a:cs typeface="Calibri" pitchFamily="34" charset="-120"/>
              </a:rPr>
              <a:t>Kaladhar needs many ads per product but cannot reshoot for each one. AI video solves the cost — and introduces two new problems.</a:t>
            </a:r>
            <a:endParaRPr lang="en-US" sz="1450" dirty="0"/>
          </a:p>
        </p:txBody>
      </p:sp>
      <p:sp>
        <p:nvSpPr>
          <p:cNvPr id="5" name="Shape 3"/>
          <p:cNvSpPr/>
          <p:nvPr/>
        </p:nvSpPr>
        <p:spPr>
          <a:xfrm>
            <a:off x="566928" y="2194560"/>
            <a:ext cx="3246120" cy="2286000"/>
          </a:xfrm>
          <a:prstGeom prst="roundRect">
            <a:avLst>
              <a:gd name="adj" fmla="val 2400"/>
            </a:avLst>
          </a:prstGeom>
          <a:solidFill>
            <a:srgbClr val="F4F1EC"/>
          </a:solidFill>
          <a:ln w="9525">
            <a:solidFill>
              <a:srgbClr val="E1E6E9"/>
            </a:solidFill>
            <a:prstDash val="solid"/>
          </a:ln>
        </p:spPr>
      </p:sp>
      <p:sp>
        <p:nvSpPr>
          <p:cNvPr id="6" name="Text 4"/>
          <p:cNvSpPr/>
          <p:nvPr/>
        </p:nvSpPr>
        <p:spPr>
          <a:xfrm>
            <a:off x="822960" y="2395728"/>
            <a:ext cx="2743200" cy="365760"/>
          </a:xfrm>
          <a:prstGeom prst="rect">
            <a:avLst/>
          </a:prstGeom>
          <a:noFill/>
          <a:ln/>
        </p:spPr>
        <p:txBody>
          <a:bodyPr wrap="square" lIns="0" tIns="0" rIns="0" bIns="0" rtlCol="0" anchor="ctr"/>
          <a:lstStyle/>
          <a:p>
            <a:pPr indent="0" marL="0">
              <a:buNone/>
            </a:pPr>
            <a:r>
              <a:rPr lang="en-US" sz="2000" b="1" dirty="0">
                <a:solidFill>
                  <a:srgbClr val="131A1F"/>
                </a:solidFill>
                <a:latin typeface="Cambria" pitchFamily="34" charset="0"/>
                <a:ea typeface="Cambria" pitchFamily="34" charset="-122"/>
                <a:cs typeface="Cambria" pitchFamily="34" charset="-120"/>
              </a:rPr>
              <a:t>Repetitive</a:t>
            </a:r>
            <a:endParaRPr lang="en-US" sz="2000" dirty="0"/>
          </a:p>
        </p:txBody>
      </p:sp>
      <p:sp>
        <p:nvSpPr>
          <p:cNvPr id="7" name="Text 5"/>
          <p:cNvSpPr/>
          <p:nvPr/>
        </p:nvSpPr>
        <p:spPr>
          <a:xfrm>
            <a:off x="822960" y="2788920"/>
            <a:ext cx="2743200" cy="146304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Re-prompting one idea with different adjectives moves the render, not the concept. Ten outputs, one idea.</a:t>
            </a:r>
            <a:endParaRPr lang="en-US" sz="1250" dirty="0"/>
          </a:p>
        </p:txBody>
      </p:sp>
      <p:sp>
        <p:nvSpPr>
          <p:cNvPr id="8" name="Shape 6"/>
          <p:cNvSpPr/>
          <p:nvPr/>
        </p:nvSpPr>
        <p:spPr>
          <a:xfrm>
            <a:off x="4087368" y="2194560"/>
            <a:ext cx="3246120" cy="2286000"/>
          </a:xfrm>
          <a:prstGeom prst="roundRect">
            <a:avLst>
              <a:gd name="adj" fmla="val 2400"/>
            </a:avLst>
          </a:prstGeom>
          <a:solidFill>
            <a:srgbClr val="F4F1EC"/>
          </a:solidFill>
          <a:ln w="9525">
            <a:solidFill>
              <a:srgbClr val="E1E6E9"/>
            </a:solidFill>
            <a:prstDash val="solid"/>
          </a:ln>
        </p:spPr>
      </p:sp>
      <p:sp>
        <p:nvSpPr>
          <p:cNvPr id="9" name="Text 7"/>
          <p:cNvSpPr/>
          <p:nvPr/>
        </p:nvSpPr>
        <p:spPr>
          <a:xfrm>
            <a:off x="4343400" y="2395728"/>
            <a:ext cx="2743200" cy="365760"/>
          </a:xfrm>
          <a:prstGeom prst="rect">
            <a:avLst/>
          </a:prstGeom>
          <a:noFill/>
          <a:ln/>
        </p:spPr>
        <p:txBody>
          <a:bodyPr wrap="square" lIns="0" tIns="0" rIns="0" bIns="0" rtlCol="0" anchor="ctr"/>
          <a:lstStyle/>
          <a:p>
            <a:pPr indent="0" marL="0">
              <a:buNone/>
            </a:pPr>
            <a:r>
              <a:rPr lang="en-US" sz="2000" b="1" dirty="0">
                <a:solidFill>
                  <a:srgbClr val="A8342A"/>
                </a:solidFill>
                <a:latin typeface="Cambria" pitchFamily="34" charset="0"/>
                <a:ea typeface="Cambria" pitchFamily="34" charset="-122"/>
                <a:cs typeface="Cambria" pitchFamily="34" charset="-120"/>
              </a:rPr>
              <a:t>Product drifts</a:t>
            </a:r>
            <a:endParaRPr lang="en-US" sz="2000" dirty="0"/>
          </a:p>
        </p:txBody>
      </p:sp>
      <p:sp>
        <p:nvSpPr>
          <p:cNvPr id="10" name="Text 8"/>
          <p:cNvSpPr/>
          <p:nvPr/>
        </p:nvSpPr>
        <p:spPr>
          <a:xfrm>
            <a:off x="4343400" y="2788920"/>
            <a:ext cx="2743200" cy="1463040"/>
          </a:xfrm>
          <a:prstGeom prst="rect">
            <a:avLst/>
          </a:prstGeom>
          <a:noFill/>
          <a:ln/>
        </p:spPr>
        <p:txBody>
          <a:bodyPr wrap="square" lIns="0" tIns="0" rIns="0" bIns="0" rtlCol="0" anchor="ctr"/>
          <a:lstStyle/>
          <a:p>
            <a:pPr indent="0" marL="0">
              <a:lnSpc>
                <a:spcPts val="1700"/>
              </a:lnSpc>
              <a:buNone/>
            </a:pPr>
            <a:r>
              <a:rPr lang="en-US" sz="1250" dirty="0">
                <a:solidFill>
                  <a:srgbClr val="2B3A44"/>
                </a:solidFill>
                <a:latin typeface="Calibri" pitchFamily="34" charset="0"/>
                <a:ea typeface="Calibri" pitchFamily="34" charset="-122"/>
                <a:cs typeface="Calibri" pitchFamily="34" charset="-120"/>
              </a:rPr>
              <a:t>Colour shifts, weave flattens, the border is redrawn. The ad no longer shows what is being sold.</a:t>
            </a:r>
            <a:endParaRPr lang="en-US" sz="1250" dirty="0"/>
          </a:p>
        </p:txBody>
      </p:sp>
      <p:sp>
        <p:nvSpPr>
          <p:cNvPr id="11" name="Shape 9"/>
          <p:cNvSpPr/>
          <p:nvPr/>
        </p:nvSpPr>
        <p:spPr>
          <a:xfrm>
            <a:off x="566928" y="4754880"/>
            <a:ext cx="6766560" cy="1234440"/>
          </a:xfrm>
          <a:prstGeom prst="roundRect">
            <a:avLst>
              <a:gd name="adj" fmla="val 4444"/>
            </a:avLst>
          </a:prstGeom>
          <a:solidFill>
            <a:srgbClr val="131A1F"/>
          </a:solidFill>
          <a:ln w="12700">
            <a:solidFill>
              <a:srgbClr val="131A1F"/>
            </a:solidFill>
            <a:prstDash val="solid"/>
          </a:ln>
        </p:spPr>
      </p:sp>
      <p:sp>
        <p:nvSpPr>
          <p:cNvPr id="12" name="Text 10"/>
          <p:cNvSpPr/>
          <p:nvPr/>
        </p:nvSpPr>
        <p:spPr>
          <a:xfrm>
            <a:off x="822960" y="4919472"/>
            <a:ext cx="6309360" cy="274320"/>
          </a:xfrm>
          <a:prstGeom prst="rect">
            <a:avLst/>
          </a:prstGeom>
          <a:noFill/>
          <a:ln/>
        </p:spPr>
        <p:txBody>
          <a:bodyPr wrap="square" lIns="0" tIns="0" rIns="0" bIns="0" rtlCol="0" anchor="ctr"/>
          <a:lstStyle/>
          <a:p>
            <a:pPr indent="0" marL="0">
              <a:buNone/>
            </a:pPr>
            <a:r>
              <a:rPr lang="en-US" sz="1100" b="1" spc="120" kern="0" dirty="0">
                <a:solidFill>
                  <a:srgbClr val="7FC3CE"/>
                </a:solidFill>
                <a:latin typeface="Calibri" pitchFamily="34" charset="0"/>
                <a:ea typeface="Calibri" pitchFamily="34" charset="-122"/>
                <a:cs typeface="Calibri" pitchFamily="34" charset="-120"/>
              </a:rPr>
              <a:t>Client's hard constraint</a:t>
            </a:r>
            <a:endParaRPr lang="en-US" sz="1100" dirty="0"/>
          </a:p>
        </p:txBody>
      </p:sp>
      <p:sp>
        <p:nvSpPr>
          <p:cNvPr id="13" name="Text 11"/>
          <p:cNvSpPr/>
          <p:nvPr/>
        </p:nvSpPr>
        <p:spPr>
          <a:xfrm>
            <a:off x="822960" y="5193792"/>
            <a:ext cx="6309360" cy="640080"/>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“The generated advertisement should not misrepresent the product being sold.”</a:t>
            </a:r>
            <a:endParaRPr lang="en-US" sz="1500" dirty="0"/>
          </a:p>
        </p:txBody>
      </p:sp>
      <p:pic>
        <p:nvPicPr>
          <p:cNvPr id="14" name="Image 0" descr="C:\Users\Rahil Ahmed\Desktop\GIGCB\evidence\m33\saree_weaveguard_src.png">    </p:cNvPr>
          <p:cNvPicPr>
            <a:picLocks noChangeAspect="1"/>
          </p:cNvPicPr>
          <p:nvPr/>
        </p:nvPicPr>
        <p:blipFill>
          <a:blip r:embed="rId1"/>
          <a:stretch>
            <a:fillRect/>
          </a:stretch>
        </p:blipFill>
        <p:spPr>
          <a:xfrm>
            <a:off x="7635240" y="1371600"/>
            <a:ext cx="2103120" cy="2103120"/>
          </a:xfrm>
          <a:prstGeom prst="rect">
            <a:avLst/>
          </a:prstGeom>
        </p:spPr>
      </p:pic>
      <p:pic>
        <p:nvPicPr>
          <p:cNvPr id="15" name="Image 1" descr="C:\Users\Rahil Ahmed\Desktop\GIGCB\evidence\m33\mansion_weave.png">    </p:cNvPr>
          <p:cNvPicPr>
            <a:picLocks noChangeAspect="1"/>
          </p:cNvPicPr>
          <p:nvPr/>
        </p:nvPicPr>
        <p:blipFill>
          <a:blip r:embed="rId2"/>
          <a:stretch>
            <a:fillRect/>
          </a:stretch>
        </p:blipFill>
        <p:spPr>
          <a:xfrm>
            <a:off x="7635240" y="3675888"/>
            <a:ext cx="3977640" cy="2478024"/>
          </a:xfrm>
          <a:prstGeom prst="rect">
            <a:avLst/>
          </a:prstGeom>
        </p:spPr>
      </p:pic>
      <p:sp>
        <p:nvSpPr>
          <p:cNvPr id="16" name="Text 12"/>
          <p:cNvSpPr/>
          <p:nvPr/>
        </p:nvSpPr>
        <p:spPr>
          <a:xfrm>
            <a:off x="9875520" y="1463040"/>
            <a:ext cx="1783080" cy="1463040"/>
          </a:xfrm>
          <a:prstGeom prst="rect">
            <a:avLst/>
          </a:prstGeom>
          <a:noFill/>
          <a:ln/>
        </p:spPr>
        <p:txBody>
          <a:bodyPr wrap="square" lIns="0" tIns="0" rIns="0" bIns="0" rtlCol="0" anchor="ctr"/>
          <a:lstStyle/>
          <a:p>
            <a:pPr indent="0" marL="0">
              <a:lnSpc>
                <a:spcPts val="1400"/>
              </a:lnSpc>
              <a:buNone/>
            </a:pPr>
            <a:r>
              <a:rPr lang="en-US" sz="1050" dirty="0">
                <a:solidFill>
                  <a:srgbClr val="6A7B87"/>
                </a:solidFill>
                <a:latin typeface="Calibri" pitchFamily="34" charset="0"/>
                <a:ea typeface="Calibri" pitchFamily="34" charset="-122"/>
                <a:cs typeface="Calibri" pitchFamily="34" charset="-120"/>
              </a:rPr>
              <a:t>Source weave (left) vs a generated frame where the motif could not be found at all</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OUR SOLUTION</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Maximum variation in the scene. Zero variation in the product.</a:t>
            </a:r>
            <a:endParaRPr lang="en-US" sz="3000" dirty="0"/>
          </a:p>
        </p:txBody>
      </p:sp>
      <p:sp>
        <p:nvSpPr>
          <p:cNvPr id="4" name="Text 2"/>
          <p:cNvSpPr/>
          <p:nvPr/>
        </p:nvSpPr>
        <p:spPr>
          <a:xfrm>
            <a:off x="566928" y="1417320"/>
            <a:ext cx="10881360" cy="457200"/>
          </a:xfrm>
          <a:prstGeom prst="rect">
            <a:avLst/>
          </a:prstGeom>
          <a:noFill/>
          <a:ln/>
        </p:spPr>
        <p:txBody>
          <a:bodyPr wrap="square" lIns="0" tIns="0" rIns="0" bIns="0" rtlCol="0" anchor="ctr"/>
          <a:lstStyle/>
          <a:p>
            <a:pPr indent="0" marL="0">
              <a:buNone/>
            </a:pPr>
            <a:r>
              <a:rPr lang="en-US" sz="1450" dirty="0">
                <a:solidFill>
                  <a:srgbClr val="6A7B87"/>
                </a:solidFill>
                <a:latin typeface="Calibri" pitchFamily="34" charset="0"/>
                <a:ea typeface="Calibri" pitchFamily="34" charset="-122"/>
                <a:cs typeface="Calibri" pitchFamily="34" charset="-120"/>
              </a:rPr>
              <a:t>The brief asks for two things that pull against each other. We split the frame into two zones with opposite rules and enforce each separately.</a:t>
            </a:r>
            <a:endParaRPr lang="en-US" sz="1450" dirty="0"/>
          </a:p>
        </p:txBody>
      </p:sp>
      <p:sp>
        <p:nvSpPr>
          <p:cNvPr id="5" name="Shape 3"/>
          <p:cNvSpPr/>
          <p:nvPr/>
        </p:nvSpPr>
        <p:spPr>
          <a:xfrm>
            <a:off x="566928" y="2057400"/>
            <a:ext cx="5257800" cy="1691640"/>
          </a:xfrm>
          <a:prstGeom prst="roundRect">
            <a:avLst>
              <a:gd name="adj" fmla="val 3243"/>
            </a:avLst>
          </a:prstGeom>
          <a:solidFill>
            <a:srgbClr val="FBF7F6"/>
          </a:solidFill>
          <a:ln w="9525">
            <a:solidFill>
              <a:srgbClr val="E1E6E9"/>
            </a:solidFill>
            <a:prstDash val="solid"/>
          </a:ln>
        </p:spPr>
      </p:sp>
      <p:sp>
        <p:nvSpPr>
          <p:cNvPr id="6" name="Text 4"/>
          <p:cNvSpPr/>
          <p:nvPr/>
        </p:nvSpPr>
        <p:spPr>
          <a:xfrm>
            <a:off x="841248" y="2240280"/>
            <a:ext cx="3657600" cy="256032"/>
          </a:xfrm>
          <a:prstGeom prst="rect">
            <a:avLst/>
          </a:prstGeom>
          <a:noFill/>
          <a:ln/>
        </p:spPr>
        <p:txBody>
          <a:bodyPr wrap="square" lIns="0" tIns="0" rIns="0" bIns="0" rtlCol="0" anchor="ctr"/>
          <a:lstStyle/>
          <a:p>
            <a:pPr indent="0" marL="0">
              <a:buNone/>
            </a:pPr>
            <a:r>
              <a:rPr lang="en-US" sz="1050" b="1" spc="140" kern="0" dirty="0">
                <a:solidFill>
                  <a:srgbClr val="A8342A"/>
                </a:solidFill>
                <a:latin typeface="Calibri" pitchFamily="34" charset="0"/>
                <a:ea typeface="Calibri" pitchFamily="34" charset="-122"/>
                <a:cs typeface="Calibri" pitchFamily="34" charset="-120"/>
              </a:rPr>
              <a:t>PRODUCT REGION</a:t>
            </a:r>
            <a:endParaRPr lang="en-US" sz="1050" dirty="0"/>
          </a:p>
        </p:txBody>
      </p:sp>
      <p:sp>
        <p:nvSpPr>
          <p:cNvPr id="7" name="Text 5"/>
          <p:cNvSpPr/>
          <p:nvPr/>
        </p:nvSpPr>
        <p:spPr>
          <a:xfrm>
            <a:off x="841248" y="2514600"/>
            <a:ext cx="4572000" cy="384048"/>
          </a:xfrm>
          <a:prstGeom prst="rect">
            <a:avLst/>
          </a:prstGeom>
          <a:noFill/>
          <a:ln/>
        </p:spPr>
        <p:txBody>
          <a:bodyPr wrap="square" lIns="0" tIns="0" rIns="0" bIns="0" rtlCol="0" anchor="ctr"/>
          <a:lstStyle/>
          <a:p>
            <a:pPr indent="0" marL="0">
              <a:buNone/>
            </a:pPr>
            <a:r>
              <a:rPr lang="en-US" sz="2200" b="1" dirty="0">
                <a:solidFill>
                  <a:srgbClr val="131A1F"/>
                </a:solidFill>
                <a:latin typeface="Cambria" pitchFamily="34" charset="0"/>
                <a:ea typeface="Cambria" pitchFamily="34" charset="-122"/>
                <a:cs typeface="Cambria" pitchFamily="34" charset="-120"/>
              </a:rPr>
              <a:t>must not change</a:t>
            </a:r>
            <a:endParaRPr lang="en-US" sz="2200" dirty="0"/>
          </a:p>
        </p:txBody>
      </p:sp>
      <p:sp>
        <p:nvSpPr>
          <p:cNvPr id="8" name="Text 6"/>
          <p:cNvSpPr/>
          <p:nvPr/>
        </p:nvSpPr>
        <p:spPr>
          <a:xfrm>
            <a:off x="841248" y="2999232"/>
            <a:ext cx="4754880" cy="365760"/>
          </a:xfrm>
          <a:prstGeom prst="rect">
            <a:avLst/>
          </a:prstGeom>
          <a:noFill/>
          <a:ln/>
        </p:spPr>
        <p:txBody>
          <a:bodyPr wrap="square" lIns="0" tIns="0" rIns="0" bIns="0" rtlCol="0" anchor="ctr"/>
          <a:lstStyle/>
          <a:p>
            <a:pPr indent="0" marL="0">
              <a:buNone/>
            </a:pPr>
            <a:r>
              <a:rPr lang="en-US" sz="1300" dirty="0">
                <a:solidFill>
                  <a:srgbClr val="2B3A44"/>
                </a:solidFill>
                <a:latin typeface="Calibri" pitchFamily="34" charset="0"/>
                <a:ea typeface="Calibri" pitchFamily="34" charset="-122"/>
                <a:cs typeface="Calibri" pitchFamily="34" charset="-120"/>
              </a:rPr>
              <a:t>Enforced by the Fidelity Lock — Gate 1</a:t>
            </a:r>
            <a:endParaRPr lang="en-US" sz="1300" dirty="0"/>
          </a:p>
        </p:txBody>
      </p:sp>
      <p:sp>
        <p:nvSpPr>
          <p:cNvPr id="9" name="Shape 7"/>
          <p:cNvSpPr/>
          <p:nvPr/>
        </p:nvSpPr>
        <p:spPr>
          <a:xfrm>
            <a:off x="6099048" y="2057400"/>
            <a:ext cx="5257800" cy="1691640"/>
          </a:xfrm>
          <a:prstGeom prst="roundRect">
            <a:avLst>
              <a:gd name="adj" fmla="val 3243"/>
            </a:avLst>
          </a:prstGeom>
          <a:solidFill>
            <a:srgbClr val="F2F8F9"/>
          </a:solidFill>
          <a:ln w="9525">
            <a:solidFill>
              <a:srgbClr val="E1E6E9"/>
            </a:solidFill>
            <a:prstDash val="solid"/>
          </a:ln>
        </p:spPr>
      </p:sp>
      <p:sp>
        <p:nvSpPr>
          <p:cNvPr id="10" name="Text 8"/>
          <p:cNvSpPr/>
          <p:nvPr/>
        </p:nvSpPr>
        <p:spPr>
          <a:xfrm>
            <a:off x="6373368" y="2240280"/>
            <a:ext cx="3657600" cy="256032"/>
          </a:xfrm>
          <a:prstGeom prst="rect">
            <a:avLst/>
          </a:prstGeom>
          <a:noFill/>
          <a:ln/>
        </p:spPr>
        <p:txBody>
          <a:bodyPr wrap="square" lIns="0" tIns="0" rIns="0" bIns="0" rtlCol="0" anchor="ctr"/>
          <a:lstStyle/>
          <a:p>
            <a:pPr indent="0" marL="0">
              <a:buNone/>
            </a:pPr>
            <a:r>
              <a:rPr lang="en-US" sz="1050" b="1" spc="140" kern="0" dirty="0">
                <a:solidFill>
                  <a:srgbClr val="0E7D8C"/>
                </a:solidFill>
                <a:latin typeface="Calibri" pitchFamily="34" charset="0"/>
                <a:ea typeface="Calibri" pitchFamily="34" charset="-122"/>
                <a:cs typeface="Calibri" pitchFamily="34" charset="-120"/>
              </a:rPr>
              <a:t>SCENE REGION</a:t>
            </a:r>
            <a:endParaRPr lang="en-US" sz="1050" dirty="0"/>
          </a:p>
        </p:txBody>
      </p:sp>
      <p:sp>
        <p:nvSpPr>
          <p:cNvPr id="11" name="Text 9"/>
          <p:cNvSpPr/>
          <p:nvPr/>
        </p:nvSpPr>
        <p:spPr>
          <a:xfrm>
            <a:off x="6373368" y="2514600"/>
            <a:ext cx="4572000" cy="384048"/>
          </a:xfrm>
          <a:prstGeom prst="rect">
            <a:avLst/>
          </a:prstGeom>
          <a:noFill/>
          <a:ln/>
        </p:spPr>
        <p:txBody>
          <a:bodyPr wrap="square" lIns="0" tIns="0" rIns="0" bIns="0" rtlCol="0" anchor="ctr"/>
          <a:lstStyle/>
          <a:p>
            <a:pPr indent="0" marL="0">
              <a:buNone/>
            </a:pPr>
            <a:r>
              <a:rPr lang="en-US" sz="2200" b="1" dirty="0">
                <a:solidFill>
                  <a:srgbClr val="131A1F"/>
                </a:solidFill>
                <a:latin typeface="Cambria" pitchFamily="34" charset="0"/>
                <a:ea typeface="Cambria" pitchFamily="34" charset="-122"/>
                <a:cs typeface="Cambria" pitchFamily="34" charset="-120"/>
              </a:rPr>
              <a:t>must change</a:t>
            </a:r>
            <a:endParaRPr lang="en-US" sz="2200" dirty="0"/>
          </a:p>
        </p:txBody>
      </p:sp>
      <p:sp>
        <p:nvSpPr>
          <p:cNvPr id="12" name="Text 10"/>
          <p:cNvSpPr/>
          <p:nvPr/>
        </p:nvSpPr>
        <p:spPr>
          <a:xfrm>
            <a:off x="6373368" y="2999232"/>
            <a:ext cx="4754880" cy="365760"/>
          </a:xfrm>
          <a:prstGeom prst="rect">
            <a:avLst/>
          </a:prstGeom>
          <a:noFill/>
          <a:ln/>
        </p:spPr>
        <p:txBody>
          <a:bodyPr wrap="square" lIns="0" tIns="0" rIns="0" bIns="0" rtlCol="0" anchor="ctr"/>
          <a:lstStyle/>
          <a:p>
            <a:pPr indent="0" marL="0">
              <a:buNone/>
            </a:pPr>
            <a:r>
              <a:rPr lang="en-US" sz="1300" dirty="0">
                <a:solidFill>
                  <a:srgbClr val="2B3A44"/>
                </a:solidFill>
                <a:latin typeface="Calibri" pitchFamily="34" charset="0"/>
                <a:ea typeface="Calibri" pitchFamily="34" charset="-122"/>
                <a:cs typeface="Calibri" pitchFamily="34" charset="-120"/>
              </a:rPr>
              <a:t>Enforced by the Diversity Engine — Gate 2</a:t>
            </a:r>
            <a:endParaRPr lang="en-US" sz="1300" dirty="0"/>
          </a:p>
        </p:txBody>
      </p:sp>
      <p:sp>
        <p:nvSpPr>
          <p:cNvPr id="13" name="Text 11"/>
          <p:cNvSpPr/>
          <p:nvPr/>
        </p:nvSpPr>
        <p:spPr>
          <a:xfrm>
            <a:off x="566928" y="4069080"/>
            <a:ext cx="6400800" cy="411480"/>
          </a:xfrm>
          <a:prstGeom prst="rect">
            <a:avLst/>
          </a:prstGeom>
          <a:noFill/>
          <a:ln/>
        </p:spPr>
        <p:txBody>
          <a:bodyPr wrap="square" lIns="0" tIns="0" rIns="0" bIns="0" rtlCol="0" anchor="ctr"/>
          <a:lstStyle/>
          <a:p>
            <a:pPr indent="0" marL="0">
              <a:buNone/>
            </a:pPr>
            <a:r>
              <a:rPr lang="en-US" sz="1900" b="1" dirty="0">
                <a:solidFill>
                  <a:srgbClr val="131A1F"/>
                </a:solidFill>
                <a:latin typeface="Cambria" pitchFamily="34" charset="0"/>
                <a:ea typeface="Cambria" pitchFamily="34" charset="-122"/>
                <a:cs typeface="Cambria" pitchFamily="34" charset="-120"/>
              </a:rPr>
              <a:t>Consistency is measured, not asserted</a:t>
            </a:r>
            <a:endParaRPr lang="en-US" sz="1900" dirty="0"/>
          </a:p>
        </p:txBody>
      </p:sp>
      <p:sp>
        <p:nvSpPr>
          <p:cNvPr id="14" name="Text 12"/>
          <p:cNvSpPr/>
          <p:nvPr/>
        </p:nvSpPr>
        <p:spPr>
          <a:xfrm>
            <a:off x="566928" y="4526280"/>
            <a:ext cx="6492240" cy="192024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Every video is scored per frame, inside the garment mask only</a:t>
            </a:r>
            <a:endParaRPr lang="en-US" sz="1350" dirty="0"/>
          </a:p>
          <a:p>
            <a:pPr marL="342900" indent="-342900">
              <a:lnSpc>
                <a:spcPts val="2000"/>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Thresholds are calibrated from the product's own image, not chosen</a:t>
            </a:r>
            <a:endParaRPr lang="en-US" sz="1350" dirty="0"/>
          </a:p>
          <a:p>
            <a:pPr marL="342900" indent="-342900">
              <a:lnSpc>
                <a:spcPts val="2000"/>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Anything that drifts too far is rejected before it can ship</a:t>
            </a:r>
            <a:endParaRPr lang="en-US" sz="1350" dirty="0"/>
          </a:p>
          <a:p>
            <a:pPr marL="342900" indent="-342900">
              <a:lnSpc>
                <a:spcPts val="2000"/>
              </a:lnSpc>
              <a:spcAft>
                <a:spcPts val="700"/>
              </a:spcAft>
              <a:buSzPct val="100000"/>
              <a:buChar char="•"/>
            </a:pPr>
            <a:r>
              <a:rPr lang="en-US" sz="1350" dirty="0">
                <a:solidFill>
                  <a:srgbClr val="2B3A44"/>
                </a:solidFill>
                <a:latin typeface="Calibri" pitchFamily="34" charset="0"/>
                <a:ea typeface="Calibri" pitchFamily="34" charset="-122"/>
                <a:cs typeface="Calibri" pitchFamily="34" charset="-120"/>
              </a:rPr>
              <a:t>We are a QC layer around a generator — not another generator</a:t>
            </a:r>
            <a:endParaRPr lang="en-US" sz="1350" dirty="0"/>
          </a:p>
        </p:txBody>
      </p:sp>
      <p:pic>
        <p:nvPicPr>
          <p:cNvPr id="15" name="Image 0" descr="C:\Users\Rahil Ahmed\Desktop\GIGCB\evidence\m33\raw_frames.png">    </p:cNvPr>
          <p:cNvPicPr>
            <a:picLocks noChangeAspect="1"/>
          </p:cNvPicPr>
          <p:nvPr/>
        </p:nvPicPr>
        <p:blipFill>
          <a:blip r:embed="rId1"/>
          <a:stretch>
            <a:fillRect/>
          </a:stretch>
        </p:blipFill>
        <p:spPr>
          <a:xfrm>
            <a:off x="7223760" y="4206240"/>
            <a:ext cx="4480560" cy="1371600"/>
          </a:xfrm>
          <a:prstGeom prst="rect">
            <a:avLst/>
          </a:prstGeom>
        </p:spPr>
      </p:pic>
      <p:sp>
        <p:nvSpPr>
          <p:cNvPr id="16" name="Text 13"/>
          <p:cNvSpPr/>
          <p:nvPr/>
        </p:nvSpPr>
        <p:spPr>
          <a:xfrm>
            <a:off x="7223760" y="5623560"/>
            <a:ext cx="4480560" cy="274320"/>
          </a:xfrm>
          <a:prstGeom prst="rect">
            <a:avLst/>
          </a:prstGeom>
          <a:noFill/>
          <a:ln/>
        </p:spPr>
        <p:txBody>
          <a:bodyPr wrap="square" lIns="0" tIns="0" rIns="0" bIns="0" rtlCol="0" anchor="ctr"/>
          <a:lstStyle/>
          <a:p>
            <a:pPr indent="0" marL="0">
              <a:buNone/>
            </a:pPr>
            <a:r>
              <a:rPr lang="en-US" sz="1050" dirty="0">
                <a:solidFill>
                  <a:srgbClr val="6A7B87"/>
                </a:solidFill>
                <a:latin typeface="Calibri" pitchFamily="34" charset="0"/>
                <a:ea typeface="Calibri" pitchFamily="34" charset="-122"/>
                <a:cs typeface="Calibri" pitchFamily="34" charset="-120"/>
              </a:rPr>
              <a:t>Source, then the same saree in four generated scenes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Eight stages, automated either side of one manual step</a:t>
            </a:r>
            <a:endParaRPr lang="en-US" sz="3000" dirty="0"/>
          </a:p>
        </p:txBody>
      </p:sp>
      <p:sp>
        <p:nvSpPr>
          <p:cNvPr id="4" name="Shape 2"/>
          <p:cNvSpPr/>
          <p:nvPr/>
        </p:nvSpPr>
        <p:spPr>
          <a:xfrm>
            <a:off x="566928" y="1783080"/>
            <a:ext cx="1316736" cy="1371600"/>
          </a:xfrm>
          <a:prstGeom prst="roundRect">
            <a:avLst>
              <a:gd name="adj" fmla="val 4861"/>
            </a:avLst>
          </a:prstGeom>
          <a:solidFill>
            <a:srgbClr val="F4F1EC"/>
          </a:solidFill>
          <a:ln w="9525">
            <a:solidFill>
              <a:srgbClr val="E1E6E9"/>
            </a:solidFill>
            <a:prstDash val="solid"/>
          </a:ln>
        </p:spPr>
      </p:sp>
      <p:sp>
        <p:nvSpPr>
          <p:cNvPr id="5" name="Shape 3"/>
          <p:cNvSpPr/>
          <p:nvPr/>
        </p:nvSpPr>
        <p:spPr>
          <a:xfrm>
            <a:off x="676656" y="1901952"/>
            <a:ext cx="310896" cy="310896"/>
          </a:xfrm>
          <a:prstGeom prst="ellipse">
            <a:avLst/>
          </a:prstGeom>
          <a:solidFill>
            <a:srgbClr val="0E7D8C"/>
          </a:solidFill>
          <a:ln w="12700">
            <a:solidFill>
              <a:srgbClr val="0E7D8C"/>
            </a:solidFill>
            <a:prstDash val="solid"/>
          </a:ln>
        </p:spPr>
      </p:sp>
      <p:sp>
        <p:nvSpPr>
          <p:cNvPr id="6" name="Text 4"/>
          <p:cNvSpPr/>
          <p:nvPr/>
        </p:nvSpPr>
        <p:spPr>
          <a:xfrm>
            <a:off x="676656"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676656"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Upload</a:t>
            </a:r>
            <a:endParaRPr lang="en-US" sz="1300" dirty="0"/>
          </a:p>
        </p:txBody>
      </p:sp>
      <p:sp>
        <p:nvSpPr>
          <p:cNvPr id="8" name="Text 6"/>
          <p:cNvSpPr/>
          <p:nvPr/>
        </p:nvSpPr>
        <p:spPr>
          <a:xfrm>
            <a:off x="676656"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validate source</a:t>
            </a:r>
            <a:endParaRPr lang="en-US" sz="1050" dirty="0"/>
          </a:p>
        </p:txBody>
      </p:sp>
      <p:sp>
        <p:nvSpPr>
          <p:cNvPr id="9" name="Shape 7"/>
          <p:cNvSpPr/>
          <p:nvPr/>
        </p:nvSpPr>
        <p:spPr>
          <a:xfrm>
            <a:off x="1888236" y="2459736"/>
            <a:ext cx="59436" cy="18288"/>
          </a:xfrm>
          <a:prstGeom prst="rect">
            <a:avLst/>
          </a:prstGeom>
          <a:solidFill>
            <a:srgbClr val="C9D2D7"/>
          </a:solidFill>
          <a:ln/>
        </p:spPr>
      </p:sp>
      <p:sp>
        <p:nvSpPr>
          <p:cNvPr id="10" name="Shape 8"/>
          <p:cNvSpPr/>
          <p:nvPr/>
        </p:nvSpPr>
        <p:spPr>
          <a:xfrm>
            <a:off x="1952244" y="1783080"/>
            <a:ext cx="1316736" cy="1371600"/>
          </a:xfrm>
          <a:prstGeom prst="roundRect">
            <a:avLst>
              <a:gd name="adj" fmla="val 4861"/>
            </a:avLst>
          </a:prstGeom>
          <a:solidFill>
            <a:srgbClr val="F4F1EC"/>
          </a:solidFill>
          <a:ln w="9525">
            <a:solidFill>
              <a:srgbClr val="E1E6E9"/>
            </a:solidFill>
            <a:prstDash val="solid"/>
          </a:ln>
        </p:spPr>
      </p:sp>
      <p:sp>
        <p:nvSpPr>
          <p:cNvPr id="11" name="Shape 9"/>
          <p:cNvSpPr/>
          <p:nvPr/>
        </p:nvSpPr>
        <p:spPr>
          <a:xfrm>
            <a:off x="2061972" y="1901952"/>
            <a:ext cx="310896" cy="310896"/>
          </a:xfrm>
          <a:prstGeom prst="ellipse">
            <a:avLst/>
          </a:prstGeom>
          <a:solidFill>
            <a:srgbClr val="0E7D8C"/>
          </a:solidFill>
          <a:ln w="12700">
            <a:solidFill>
              <a:srgbClr val="0E7D8C"/>
            </a:solidFill>
            <a:prstDash val="solid"/>
          </a:ln>
        </p:spPr>
      </p:sp>
      <p:sp>
        <p:nvSpPr>
          <p:cNvPr id="12" name="Text 10"/>
          <p:cNvSpPr/>
          <p:nvPr/>
        </p:nvSpPr>
        <p:spPr>
          <a:xfrm>
            <a:off x="2061972"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061972"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Analyse</a:t>
            </a:r>
            <a:endParaRPr lang="en-US" sz="1300" dirty="0"/>
          </a:p>
        </p:txBody>
      </p:sp>
      <p:sp>
        <p:nvSpPr>
          <p:cNvPr id="14" name="Text 12"/>
          <p:cNvSpPr/>
          <p:nvPr/>
        </p:nvSpPr>
        <p:spPr>
          <a:xfrm>
            <a:off x="2061972"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mask + signature</a:t>
            </a:r>
            <a:endParaRPr lang="en-US" sz="1050" dirty="0"/>
          </a:p>
        </p:txBody>
      </p:sp>
      <p:sp>
        <p:nvSpPr>
          <p:cNvPr id="15" name="Shape 13"/>
          <p:cNvSpPr/>
          <p:nvPr/>
        </p:nvSpPr>
        <p:spPr>
          <a:xfrm>
            <a:off x="3273552" y="2459736"/>
            <a:ext cx="59436" cy="18288"/>
          </a:xfrm>
          <a:prstGeom prst="rect">
            <a:avLst/>
          </a:prstGeom>
          <a:solidFill>
            <a:srgbClr val="C9D2D7"/>
          </a:solidFill>
          <a:ln/>
        </p:spPr>
      </p:sp>
      <p:sp>
        <p:nvSpPr>
          <p:cNvPr id="16" name="Shape 14"/>
          <p:cNvSpPr/>
          <p:nvPr/>
        </p:nvSpPr>
        <p:spPr>
          <a:xfrm>
            <a:off x="3337560" y="1783080"/>
            <a:ext cx="1316736" cy="1371600"/>
          </a:xfrm>
          <a:prstGeom prst="roundRect">
            <a:avLst>
              <a:gd name="adj" fmla="val 4861"/>
            </a:avLst>
          </a:prstGeom>
          <a:solidFill>
            <a:srgbClr val="F4F1EC"/>
          </a:solidFill>
          <a:ln w="9525">
            <a:solidFill>
              <a:srgbClr val="E1E6E9"/>
            </a:solidFill>
            <a:prstDash val="solid"/>
          </a:ln>
        </p:spPr>
      </p:sp>
      <p:sp>
        <p:nvSpPr>
          <p:cNvPr id="17" name="Shape 15"/>
          <p:cNvSpPr/>
          <p:nvPr/>
        </p:nvSpPr>
        <p:spPr>
          <a:xfrm>
            <a:off x="3447288" y="1901952"/>
            <a:ext cx="310896" cy="310896"/>
          </a:xfrm>
          <a:prstGeom prst="ellipse">
            <a:avLst/>
          </a:prstGeom>
          <a:solidFill>
            <a:srgbClr val="0E7D8C"/>
          </a:solidFill>
          <a:ln w="12700">
            <a:solidFill>
              <a:srgbClr val="0E7D8C"/>
            </a:solidFill>
            <a:prstDash val="solid"/>
          </a:ln>
        </p:spPr>
      </p:sp>
      <p:sp>
        <p:nvSpPr>
          <p:cNvPr id="18" name="Text 16"/>
          <p:cNvSpPr/>
          <p:nvPr/>
        </p:nvSpPr>
        <p:spPr>
          <a:xfrm>
            <a:off x="3447288"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3447288"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Briefs</a:t>
            </a:r>
            <a:endParaRPr lang="en-US" sz="1300" dirty="0"/>
          </a:p>
        </p:txBody>
      </p:sp>
      <p:sp>
        <p:nvSpPr>
          <p:cNvPr id="20" name="Text 18"/>
          <p:cNvSpPr/>
          <p:nvPr/>
        </p:nvSpPr>
        <p:spPr>
          <a:xfrm>
            <a:off x="3447288"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5-axis matrix</a:t>
            </a:r>
            <a:endParaRPr lang="en-US" sz="1050" dirty="0"/>
          </a:p>
        </p:txBody>
      </p:sp>
      <p:sp>
        <p:nvSpPr>
          <p:cNvPr id="21" name="Shape 19"/>
          <p:cNvSpPr/>
          <p:nvPr/>
        </p:nvSpPr>
        <p:spPr>
          <a:xfrm>
            <a:off x="4658868" y="2459736"/>
            <a:ext cx="59436" cy="18288"/>
          </a:xfrm>
          <a:prstGeom prst="rect">
            <a:avLst/>
          </a:prstGeom>
          <a:solidFill>
            <a:srgbClr val="C9D2D7"/>
          </a:solidFill>
          <a:ln/>
        </p:spPr>
      </p:sp>
      <p:sp>
        <p:nvSpPr>
          <p:cNvPr id="22" name="Shape 20"/>
          <p:cNvSpPr/>
          <p:nvPr/>
        </p:nvSpPr>
        <p:spPr>
          <a:xfrm>
            <a:off x="4722876" y="1783080"/>
            <a:ext cx="1316736" cy="1371600"/>
          </a:xfrm>
          <a:prstGeom prst="roundRect">
            <a:avLst>
              <a:gd name="adj" fmla="val 4861"/>
            </a:avLst>
          </a:prstGeom>
          <a:solidFill>
            <a:srgbClr val="F3EFFA"/>
          </a:solidFill>
          <a:ln w="15875">
            <a:solidFill>
              <a:srgbClr val="C9BCEB"/>
            </a:solidFill>
            <a:prstDash val="solid"/>
          </a:ln>
        </p:spPr>
      </p:sp>
      <p:sp>
        <p:nvSpPr>
          <p:cNvPr id="23" name="Shape 21"/>
          <p:cNvSpPr/>
          <p:nvPr/>
        </p:nvSpPr>
        <p:spPr>
          <a:xfrm>
            <a:off x="4832604" y="1901952"/>
            <a:ext cx="310896" cy="310896"/>
          </a:xfrm>
          <a:prstGeom prst="ellipse">
            <a:avLst/>
          </a:prstGeom>
          <a:solidFill>
            <a:srgbClr val="5A4A86"/>
          </a:solidFill>
          <a:ln w="12700">
            <a:solidFill>
              <a:srgbClr val="5A4A86"/>
            </a:solidFill>
            <a:prstDash val="solid"/>
          </a:ln>
        </p:spPr>
      </p:sp>
      <p:sp>
        <p:nvSpPr>
          <p:cNvPr id="24" name="Text 22"/>
          <p:cNvSpPr/>
          <p:nvPr/>
        </p:nvSpPr>
        <p:spPr>
          <a:xfrm>
            <a:off x="4832604"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4832604"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Ekly</a:t>
            </a:r>
            <a:endParaRPr lang="en-US" sz="1300" dirty="0"/>
          </a:p>
        </p:txBody>
      </p:sp>
      <p:sp>
        <p:nvSpPr>
          <p:cNvPr id="26" name="Text 24"/>
          <p:cNvSpPr/>
          <p:nvPr/>
        </p:nvSpPr>
        <p:spPr>
          <a:xfrm>
            <a:off x="4832604"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MANUAL — no API</a:t>
            </a:r>
            <a:endParaRPr lang="en-US" sz="1050" dirty="0"/>
          </a:p>
        </p:txBody>
      </p:sp>
      <p:sp>
        <p:nvSpPr>
          <p:cNvPr id="27" name="Shape 25"/>
          <p:cNvSpPr/>
          <p:nvPr/>
        </p:nvSpPr>
        <p:spPr>
          <a:xfrm>
            <a:off x="6044184" y="2459736"/>
            <a:ext cx="59436" cy="18288"/>
          </a:xfrm>
          <a:prstGeom prst="rect">
            <a:avLst/>
          </a:prstGeom>
          <a:solidFill>
            <a:srgbClr val="C9D2D7"/>
          </a:solidFill>
          <a:ln/>
        </p:spPr>
      </p:sp>
      <p:sp>
        <p:nvSpPr>
          <p:cNvPr id="28" name="Shape 26"/>
          <p:cNvSpPr/>
          <p:nvPr/>
        </p:nvSpPr>
        <p:spPr>
          <a:xfrm>
            <a:off x="6108192" y="1783080"/>
            <a:ext cx="1316736" cy="1371600"/>
          </a:xfrm>
          <a:prstGeom prst="roundRect">
            <a:avLst>
              <a:gd name="adj" fmla="val 4861"/>
            </a:avLst>
          </a:prstGeom>
          <a:solidFill>
            <a:srgbClr val="F4F1EC"/>
          </a:solidFill>
          <a:ln w="9525">
            <a:solidFill>
              <a:srgbClr val="E1E6E9"/>
            </a:solidFill>
            <a:prstDash val="solid"/>
          </a:ln>
        </p:spPr>
      </p:sp>
      <p:sp>
        <p:nvSpPr>
          <p:cNvPr id="29" name="Shape 27"/>
          <p:cNvSpPr/>
          <p:nvPr/>
        </p:nvSpPr>
        <p:spPr>
          <a:xfrm>
            <a:off x="6217920" y="1901952"/>
            <a:ext cx="310896" cy="310896"/>
          </a:xfrm>
          <a:prstGeom prst="ellipse">
            <a:avLst/>
          </a:prstGeom>
          <a:solidFill>
            <a:srgbClr val="0E7D8C"/>
          </a:solidFill>
          <a:ln w="12700">
            <a:solidFill>
              <a:srgbClr val="0E7D8C"/>
            </a:solidFill>
            <a:prstDash val="solid"/>
          </a:ln>
        </p:spPr>
      </p:sp>
      <p:sp>
        <p:nvSpPr>
          <p:cNvPr id="30" name="Text 28"/>
          <p:cNvSpPr/>
          <p:nvPr/>
        </p:nvSpPr>
        <p:spPr>
          <a:xfrm>
            <a:off x="6217920"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6217920"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Import</a:t>
            </a:r>
            <a:endParaRPr lang="en-US" sz="1300" dirty="0"/>
          </a:p>
        </p:txBody>
      </p:sp>
      <p:sp>
        <p:nvSpPr>
          <p:cNvPr id="32" name="Text 30"/>
          <p:cNvSpPr/>
          <p:nvPr/>
        </p:nvSpPr>
        <p:spPr>
          <a:xfrm>
            <a:off x="6217920"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probe every file</a:t>
            </a:r>
            <a:endParaRPr lang="en-US" sz="1050" dirty="0"/>
          </a:p>
        </p:txBody>
      </p:sp>
      <p:sp>
        <p:nvSpPr>
          <p:cNvPr id="33" name="Shape 31"/>
          <p:cNvSpPr/>
          <p:nvPr/>
        </p:nvSpPr>
        <p:spPr>
          <a:xfrm>
            <a:off x="7429500" y="2459736"/>
            <a:ext cx="59436" cy="18288"/>
          </a:xfrm>
          <a:prstGeom prst="rect">
            <a:avLst/>
          </a:prstGeom>
          <a:solidFill>
            <a:srgbClr val="C9D2D7"/>
          </a:solidFill>
          <a:ln/>
        </p:spPr>
      </p:sp>
      <p:sp>
        <p:nvSpPr>
          <p:cNvPr id="34" name="Shape 32"/>
          <p:cNvSpPr/>
          <p:nvPr/>
        </p:nvSpPr>
        <p:spPr>
          <a:xfrm>
            <a:off x="7493508" y="1783080"/>
            <a:ext cx="1316736" cy="1371600"/>
          </a:xfrm>
          <a:prstGeom prst="roundRect">
            <a:avLst>
              <a:gd name="adj" fmla="val 4861"/>
            </a:avLst>
          </a:prstGeom>
          <a:solidFill>
            <a:srgbClr val="F4F1EC"/>
          </a:solidFill>
          <a:ln w="9525">
            <a:solidFill>
              <a:srgbClr val="E1E6E9"/>
            </a:solidFill>
            <a:prstDash val="solid"/>
          </a:ln>
        </p:spPr>
      </p:sp>
      <p:sp>
        <p:nvSpPr>
          <p:cNvPr id="35" name="Shape 33"/>
          <p:cNvSpPr/>
          <p:nvPr/>
        </p:nvSpPr>
        <p:spPr>
          <a:xfrm>
            <a:off x="7603236" y="1901952"/>
            <a:ext cx="310896" cy="310896"/>
          </a:xfrm>
          <a:prstGeom prst="ellipse">
            <a:avLst/>
          </a:prstGeom>
          <a:solidFill>
            <a:srgbClr val="0E7D8C"/>
          </a:solidFill>
          <a:ln w="12700">
            <a:solidFill>
              <a:srgbClr val="0E7D8C"/>
            </a:solidFill>
            <a:prstDash val="solid"/>
          </a:ln>
        </p:spPr>
      </p:sp>
      <p:sp>
        <p:nvSpPr>
          <p:cNvPr id="36" name="Text 34"/>
          <p:cNvSpPr/>
          <p:nvPr/>
        </p:nvSpPr>
        <p:spPr>
          <a:xfrm>
            <a:off x="7603236"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7603236"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Fidelity</a:t>
            </a:r>
            <a:endParaRPr lang="en-US" sz="1300" dirty="0"/>
          </a:p>
        </p:txBody>
      </p:sp>
      <p:sp>
        <p:nvSpPr>
          <p:cNvPr id="38" name="Text 36"/>
          <p:cNvSpPr/>
          <p:nvPr/>
        </p:nvSpPr>
        <p:spPr>
          <a:xfrm>
            <a:off x="7603236"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Gate 1</a:t>
            </a:r>
            <a:endParaRPr lang="en-US" sz="1050" dirty="0"/>
          </a:p>
        </p:txBody>
      </p:sp>
      <p:sp>
        <p:nvSpPr>
          <p:cNvPr id="39" name="Shape 37"/>
          <p:cNvSpPr/>
          <p:nvPr/>
        </p:nvSpPr>
        <p:spPr>
          <a:xfrm>
            <a:off x="8814816" y="2459736"/>
            <a:ext cx="59436" cy="18288"/>
          </a:xfrm>
          <a:prstGeom prst="rect">
            <a:avLst/>
          </a:prstGeom>
          <a:solidFill>
            <a:srgbClr val="C9D2D7"/>
          </a:solidFill>
          <a:ln/>
        </p:spPr>
      </p:sp>
      <p:sp>
        <p:nvSpPr>
          <p:cNvPr id="40" name="Shape 38"/>
          <p:cNvSpPr/>
          <p:nvPr/>
        </p:nvSpPr>
        <p:spPr>
          <a:xfrm>
            <a:off x="8878824" y="1783080"/>
            <a:ext cx="1316736" cy="1371600"/>
          </a:xfrm>
          <a:prstGeom prst="roundRect">
            <a:avLst>
              <a:gd name="adj" fmla="val 4861"/>
            </a:avLst>
          </a:prstGeom>
          <a:solidFill>
            <a:srgbClr val="F4F1EC"/>
          </a:solidFill>
          <a:ln w="9525">
            <a:solidFill>
              <a:srgbClr val="E1E6E9"/>
            </a:solidFill>
            <a:prstDash val="solid"/>
          </a:ln>
        </p:spPr>
      </p:sp>
      <p:sp>
        <p:nvSpPr>
          <p:cNvPr id="41" name="Shape 39"/>
          <p:cNvSpPr/>
          <p:nvPr/>
        </p:nvSpPr>
        <p:spPr>
          <a:xfrm>
            <a:off x="8988552" y="1901952"/>
            <a:ext cx="310896" cy="310896"/>
          </a:xfrm>
          <a:prstGeom prst="ellipse">
            <a:avLst/>
          </a:prstGeom>
          <a:solidFill>
            <a:srgbClr val="0E7D8C"/>
          </a:solidFill>
          <a:ln w="12700">
            <a:solidFill>
              <a:srgbClr val="0E7D8C"/>
            </a:solidFill>
            <a:prstDash val="solid"/>
          </a:ln>
        </p:spPr>
      </p:sp>
      <p:sp>
        <p:nvSpPr>
          <p:cNvPr id="42" name="Text 40"/>
          <p:cNvSpPr/>
          <p:nvPr/>
        </p:nvSpPr>
        <p:spPr>
          <a:xfrm>
            <a:off x="8988552"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3" name="Text 41"/>
          <p:cNvSpPr/>
          <p:nvPr/>
        </p:nvSpPr>
        <p:spPr>
          <a:xfrm>
            <a:off x="8988552"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Diversity</a:t>
            </a:r>
            <a:endParaRPr lang="en-US" sz="1300" dirty="0"/>
          </a:p>
        </p:txBody>
      </p:sp>
      <p:sp>
        <p:nvSpPr>
          <p:cNvPr id="44" name="Text 42"/>
          <p:cNvSpPr/>
          <p:nvPr/>
        </p:nvSpPr>
        <p:spPr>
          <a:xfrm>
            <a:off x="8988552"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Gate 2</a:t>
            </a:r>
            <a:endParaRPr lang="en-US" sz="1050" dirty="0"/>
          </a:p>
        </p:txBody>
      </p:sp>
      <p:sp>
        <p:nvSpPr>
          <p:cNvPr id="45" name="Shape 43"/>
          <p:cNvSpPr/>
          <p:nvPr/>
        </p:nvSpPr>
        <p:spPr>
          <a:xfrm>
            <a:off x="10200132" y="2459736"/>
            <a:ext cx="59436" cy="18288"/>
          </a:xfrm>
          <a:prstGeom prst="rect">
            <a:avLst/>
          </a:prstGeom>
          <a:solidFill>
            <a:srgbClr val="C9D2D7"/>
          </a:solidFill>
          <a:ln/>
        </p:spPr>
      </p:sp>
      <p:sp>
        <p:nvSpPr>
          <p:cNvPr id="46" name="Shape 44"/>
          <p:cNvSpPr/>
          <p:nvPr/>
        </p:nvSpPr>
        <p:spPr>
          <a:xfrm>
            <a:off x="10264140" y="1783080"/>
            <a:ext cx="1316736" cy="1371600"/>
          </a:xfrm>
          <a:prstGeom prst="roundRect">
            <a:avLst>
              <a:gd name="adj" fmla="val 4861"/>
            </a:avLst>
          </a:prstGeom>
          <a:solidFill>
            <a:srgbClr val="F4F1EC"/>
          </a:solidFill>
          <a:ln w="9525">
            <a:solidFill>
              <a:srgbClr val="E1E6E9"/>
            </a:solidFill>
            <a:prstDash val="solid"/>
          </a:ln>
        </p:spPr>
      </p:sp>
      <p:sp>
        <p:nvSpPr>
          <p:cNvPr id="47" name="Shape 45"/>
          <p:cNvSpPr/>
          <p:nvPr/>
        </p:nvSpPr>
        <p:spPr>
          <a:xfrm>
            <a:off x="10373868" y="1901952"/>
            <a:ext cx="310896" cy="310896"/>
          </a:xfrm>
          <a:prstGeom prst="ellipse">
            <a:avLst/>
          </a:prstGeom>
          <a:solidFill>
            <a:srgbClr val="0E7D8C"/>
          </a:solidFill>
          <a:ln w="12700">
            <a:solidFill>
              <a:srgbClr val="0E7D8C"/>
            </a:solidFill>
            <a:prstDash val="solid"/>
          </a:ln>
        </p:spPr>
      </p:sp>
      <p:sp>
        <p:nvSpPr>
          <p:cNvPr id="48" name="Text 46"/>
          <p:cNvSpPr/>
          <p:nvPr/>
        </p:nvSpPr>
        <p:spPr>
          <a:xfrm>
            <a:off x="10373868" y="192938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9" name="Text 47"/>
          <p:cNvSpPr/>
          <p:nvPr/>
        </p:nvSpPr>
        <p:spPr>
          <a:xfrm>
            <a:off x="10373868" y="2304288"/>
            <a:ext cx="1097280" cy="274320"/>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Export</a:t>
            </a:r>
            <a:endParaRPr lang="en-US" sz="1300" dirty="0"/>
          </a:p>
        </p:txBody>
      </p:sp>
      <p:sp>
        <p:nvSpPr>
          <p:cNvPr id="50" name="Text 48"/>
          <p:cNvSpPr/>
          <p:nvPr/>
        </p:nvSpPr>
        <p:spPr>
          <a:xfrm>
            <a:off x="10373868" y="2596896"/>
            <a:ext cx="109728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1080×1920</a:t>
            </a:r>
            <a:endParaRPr lang="en-US" sz="1050" dirty="0"/>
          </a:p>
        </p:txBody>
      </p:sp>
      <p:sp>
        <p:nvSpPr>
          <p:cNvPr id="51" name="Shape 49"/>
          <p:cNvSpPr/>
          <p:nvPr/>
        </p:nvSpPr>
        <p:spPr>
          <a:xfrm>
            <a:off x="566928" y="3520440"/>
            <a:ext cx="5532120" cy="1691640"/>
          </a:xfrm>
          <a:prstGeom prst="roundRect">
            <a:avLst>
              <a:gd name="adj" fmla="val 3243"/>
            </a:avLst>
          </a:prstGeom>
          <a:solidFill>
            <a:srgbClr val="F3EFFA"/>
          </a:solidFill>
          <a:ln w="12700">
            <a:solidFill>
              <a:srgbClr val="C9BCEB"/>
            </a:solidFill>
            <a:prstDash val="solid"/>
          </a:ln>
        </p:spPr>
      </p:sp>
      <p:sp>
        <p:nvSpPr>
          <p:cNvPr id="52" name="Text 50"/>
          <p:cNvSpPr/>
          <p:nvPr/>
        </p:nvSpPr>
        <p:spPr>
          <a:xfrm>
            <a:off x="822960" y="3703320"/>
            <a:ext cx="5029200" cy="320040"/>
          </a:xfrm>
          <a:prstGeom prst="rect">
            <a:avLst/>
          </a:prstGeom>
          <a:noFill/>
          <a:ln/>
        </p:spPr>
        <p:txBody>
          <a:bodyPr wrap="square" lIns="0" tIns="0" rIns="0" bIns="0" rtlCol="0" anchor="ctr"/>
          <a:lstStyle/>
          <a:p>
            <a:pPr indent="0" marL="0">
              <a:buNone/>
            </a:pPr>
            <a:r>
              <a:rPr lang="en-US" sz="1700" b="1" dirty="0">
                <a:solidFill>
                  <a:srgbClr val="3D3168"/>
                </a:solidFill>
                <a:latin typeface="Cambria" pitchFamily="34" charset="0"/>
                <a:ea typeface="Cambria" pitchFamily="34" charset="-122"/>
                <a:cs typeface="Cambria" pitchFamily="34" charset="-120"/>
              </a:rPr>
              <a:t>Stage 4 is manual — and we say so</a:t>
            </a:r>
            <a:endParaRPr lang="en-US" sz="1700" dirty="0"/>
          </a:p>
        </p:txBody>
      </p:sp>
      <p:sp>
        <p:nvSpPr>
          <p:cNvPr id="53" name="Text 51"/>
          <p:cNvSpPr/>
          <p:nvPr/>
        </p:nvSpPr>
        <p:spPr>
          <a:xfrm>
            <a:off x="822960" y="4041648"/>
            <a:ext cx="5029200" cy="1143000"/>
          </a:xfrm>
          <a:prstGeom prst="rect">
            <a:avLst/>
          </a:prstGeom>
          <a:noFill/>
          <a:ln/>
        </p:spPr>
        <p:txBody>
          <a:bodyPr wrap="square" lIns="0" tIns="0" rIns="0" bIns="0" rtlCol="0" anchor="ctr"/>
          <a:lstStyle/>
          <a:p>
            <a:pPr indent="0" marL="0">
              <a:lnSpc>
                <a:spcPts val="1500"/>
              </a:lnSpc>
              <a:buNone/>
            </a:pPr>
            <a:r>
              <a:rPr lang="en-US" sz="1150" dirty="0">
                <a:solidFill>
                  <a:srgbClr val="3D3168"/>
                </a:solidFill>
                <a:latin typeface="Calibri" pitchFamily="34" charset="0"/>
                <a:ea typeface="Calibri" pitchFamily="34" charset="-122"/>
                <a:cs typeface="Calibri" pitchFamily="34" charset="-120"/>
              </a:rPr>
              <a:t>Ekly.ai exposes no API to us. Nothing in the product calls, queues, batches or polls it. The run pauses at AWAITING_CLIPS and resumes when real MP4s come back.</a:t>
            </a:r>
            <a:endParaRPr lang="en-US" sz="1150" dirty="0"/>
          </a:p>
          <a:p>
            <a:pPr indent="0" marL="0">
              <a:lnSpc>
                <a:spcPts val="1500"/>
              </a:lnSpc>
              <a:buNone/>
            </a:pPr>
            <a:endParaRPr lang="en-US" sz="1150" dirty="0"/>
          </a:p>
          <a:p>
            <a:pPr indent="0" marL="0">
              <a:lnSpc>
                <a:spcPts val="1500"/>
              </a:lnSpc>
              <a:buNone/>
            </a:pPr>
            <a:r>
              <a:rPr lang="en-US" sz="1150" dirty="0">
                <a:solidFill>
                  <a:srgbClr val="3D3168"/>
                </a:solidFill>
                <a:latin typeface="Calibri" pitchFamily="34" charset="0"/>
                <a:ea typeface="Calibri" pitchFamily="34" charset="-122"/>
                <a:cs typeface="Calibri" pitchFamily="34" charset="-120"/>
              </a:rPr>
              <a:t>That is not a workaround. The client's problem is not that generation is unavailable — it is that output comes back repetitive and drifting. Both are solved before and after generation.</a:t>
            </a:r>
            <a:endParaRPr lang="en-US" sz="1150" dirty="0"/>
          </a:p>
        </p:txBody>
      </p:sp>
      <p:sp>
        <p:nvSpPr>
          <p:cNvPr id="54" name="Text 52"/>
          <p:cNvSpPr/>
          <p:nvPr/>
        </p:nvSpPr>
        <p:spPr>
          <a:xfrm>
            <a:off x="6537960" y="3611880"/>
            <a:ext cx="201168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45.50</a:t>
            </a:r>
            <a:endParaRPr lang="en-US" sz="3400" dirty="0"/>
          </a:p>
        </p:txBody>
      </p:sp>
      <p:sp>
        <p:nvSpPr>
          <p:cNvPr id="55" name="Text 53"/>
          <p:cNvSpPr/>
          <p:nvPr/>
        </p:nvSpPr>
        <p:spPr>
          <a:xfrm>
            <a:off x="6537960" y="4123944"/>
            <a:ext cx="201168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credits per generation (measured)</a:t>
            </a:r>
            <a:endParaRPr lang="en-US" sz="1150" dirty="0"/>
          </a:p>
        </p:txBody>
      </p:sp>
      <p:sp>
        <p:nvSpPr>
          <p:cNvPr id="56" name="Text 54"/>
          <p:cNvSpPr/>
          <p:nvPr/>
        </p:nvSpPr>
        <p:spPr>
          <a:xfrm>
            <a:off x="8732520" y="3611880"/>
            <a:ext cx="201168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4 / 4</a:t>
            </a:r>
            <a:endParaRPr lang="en-US" sz="3400" dirty="0"/>
          </a:p>
        </p:txBody>
      </p:sp>
      <p:sp>
        <p:nvSpPr>
          <p:cNvPr id="57" name="Text 55"/>
          <p:cNvSpPr/>
          <p:nvPr/>
        </p:nvSpPr>
        <p:spPr>
          <a:xfrm>
            <a:off x="8732520" y="4123944"/>
            <a:ext cx="201168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clips came back 2:3, not the 9:16 requested</a:t>
            </a:r>
            <a:endParaRPr lang="en-US" sz="1150" dirty="0"/>
          </a:p>
        </p:txBody>
      </p:sp>
      <p:sp>
        <p:nvSpPr>
          <p:cNvPr id="58" name="Text 56"/>
          <p:cNvSpPr/>
          <p:nvPr/>
        </p:nvSpPr>
        <p:spPr>
          <a:xfrm>
            <a:off x="6537960" y="4617720"/>
            <a:ext cx="201168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221 s</a:t>
            </a:r>
            <a:endParaRPr lang="en-US" sz="3400" dirty="0"/>
          </a:p>
        </p:txBody>
      </p:sp>
      <p:sp>
        <p:nvSpPr>
          <p:cNvPr id="59" name="Text 57"/>
          <p:cNvSpPr/>
          <p:nvPr/>
        </p:nvSpPr>
        <p:spPr>
          <a:xfrm>
            <a:off x="6537960" y="5129784"/>
            <a:ext cx="201168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automated pipeline, 4 clips</a:t>
            </a:r>
            <a:endParaRPr lang="en-US" sz="1150" dirty="0"/>
          </a:p>
        </p:txBody>
      </p:sp>
      <p:sp>
        <p:nvSpPr>
          <p:cNvPr id="60" name="Text 58"/>
          <p:cNvSpPr/>
          <p:nvPr/>
        </p:nvSpPr>
        <p:spPr>
          <a:xfrm>
            <a:off x="8732520" y="4617720"/>
            <a:ext cx="2011680" cy="530352"/>
          </a:xfrm>
          <a:prstGeom prst="rect">
            <a:avLst/>
          </a:prstGeom>
          <a:noFill/>
          <a:ln/>
        </p:spPr>
        <p:txBody>
          <a:bodyPr wrap="square" lIns="0" tIns="0" rIns="0" bIns="0" rtlCol="0" anchor="ctr"/>
          <a:lstStyle/>
          <a:p>
            <a:pPr indent="0" marL="0">
              <a:buNone/>
            </a:pPr>
            <a:r>
              <a:rPr lang="en-US" sz="3400" b="1" dirty="0">
                <a:solidFill>
                  <a:srgbClr val="1A7A52"/>
                </a:solidFill>
                <a:latin typeface="Cambria" pitchFamily="34" charset="0"/>
                <a:ea typeface="Cambria" pitchFamily="34" charset="-122"/>
                <a:cs typeface="Cambria" pitchFamily="34" charset="-120"/>
              </a:rPr>
              <a:t>20 / 20</a:t>
            </a:r>
            <a:endParaRPr lang="en-US" sz="3400" dirty="0"/>
          </a:p>
        </p:txBody>
      </p:sp>
      <p:sp>
        <p:nvSpPr>
          <p:cNvPr id="61" name="Text 59"/>
          <p:cNvSpPr/>
          <p:nvPr/>
        </p:nvSpPr>
        <p:spPr>
          <a:xfrm>
            <a:off x="8732520" y="5129784"/>
            <a:ext cx="201168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algorithm tests passing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STAGE 2 — PRODUCT ANALYSIS</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The product is fingerprinted before anything is generated</a:t>
            </a:r>
            <a:endParaRPr lang="en-US" sz="3000" dirty="0"/>
          </a:p>
        </p:txBody>
      </p:sp>
      <p:pic>
        <p:nvPicPr>
          <p:cNvPr id="4" name="Image 0" descr="C:\Users\Rahil Ahmed\Desktop\GIGCB\evidence\m33\saree_mask.png">    </p:cNvPr>
          <p:cNvPicPr>
            <a:picLocks noChangeAspect="1"/>
          </p:cNvPicPr>
          <p:nvPr/>
        </p:nvPicPr>
        <p:blipFill>
          <a:blip r:embed="rId1"/>
          <a:stretch>
            <a:fillRect/>
          </a:stretch>
        </p:blipFill>
        <p:spPr>
          <a:xfrm>
            <a:off x="566928" y="1463040"/>
            <a:ext cx="2377440" cy="3447288"/>
          </a:xfrm>
          <a:prstGeom prst="rect">
            <a:avLst/>
          </a:prstGeom>
        </p:spPr>
      </p:pic>
      <p:sp>
        <p:nvSpPr>
          <p:cNvPr id="5" name="Text 2"/>
          <p:cNvSpPr/>
          <p:nvPr/>
        </p:nvSpPr>
        <p:spPr>
          <a:xfrm>
            <a:off x="566928" y="4983480"/>
            <a:ext cx="2377440" cy="274320"/>
          </a:xfrm>
          <a:prstGeom prst="rect">
            <a:avLst/>
          </a:prstGeom>
          <a:noFill/>
          <a:ln/>
        </p:spPr>
        <p:txBody>
          <a:bodyPr wrap="square" lIns="0" tIns="0" rIns="0" bIns="0" rtlCol="0" anchor="ctr"/>
          <a:lstStyle/>
          <a:p>
            <a:pPr indent="0" marL="0">
              <a:buNone/>
            </a:pPr>
            <a:r>
              <a:rPr lang="en-US" sz="1250" b="1" dirty="0">
                <a:solidFill>
                  <a:srgbClr val="131A1F"/>
                </a:solidFill>
                <a:latin typeface="Calibri" pitchFamily="34" charset="0"/>
                <a:ea typeface="Calibri" pitchFamily="34" charset="-122"/>
                <a:cs typeface="Calibri" pitchFamily="34" charset="-120"/>
              </a:rPr>
              <a:t>Garment mask</a:t>
            </a:r>
            <a:endParaRPr lang="en-US" sz="1250" dirty="0"/>
          </a:p>
        </p:txBody>
      </p:sp>
      <p:sp>
        <p:nvSpPr>
          <p:cNvPr id="6" name="Text 3"/>
          <p:cNvSpPr/>
          <p:nvPr/>
        </p:nvSpPr>
        <p:spPr>
          <a:xfrm>
            <a:off x="566928" y="5248656"/>
            <a:ext cx="2377440" cy="731520"/>
          </a:xfrm>
          <a:prstGeom prst="rect">
            <a:avLst/>
          </a:prstGeom>
          <a:noFill/>
          <a:ln/>
        </p:spPr>
        <p:txBody>
          <a:bodyPr wrap="square" lIns="0" tIns="0" rIns="0" bIns="0" rtlCol="0" anchor="ctr"/>
          <a:lstStyle/>
          <a:p>
            <a:pPr indent="0" marL="0">
              <a:lnSpc>
                <a:spcPts val="1400"/>
              </a:lnSpc>
              <a:buNone/>
            </a:pPr>
            <a:r>
              <a:rPr lang="en-US" sz="1050" dirty="0">
                <a:solidFill>
                  <a:srgbClr val="6A7B87"/>
                </a:solidFill>
                <a:latin typeface="Calibri" pitchFamily="34" charset="0"/>
                <a:ea typeface="Calibri" pitchFamily="34" charset="-122"/>
                <a:cs typeface="Calibri" pitchFamily="34" charset="-120"/>
              </a:rPr>
              <a:t>rembg subject mask refined by a skin-chrominance heuristic. 35.73% of frame.</a:t>
            </a:r>
            <a:endParaRPr lang="en-US" sz="1050" dirty="0"/>
          </a:p>
        </p:txBody>
      </p:sp>
      <p:pic>
        <p:nvPicPr>
          <p:cNvPr id="7" name="Image 1" descr="C:\Users\Rahil Ahmed\Desktop\GIGCB\evidence\m33\saree_weaveguard_src.png">    </p:cNvPr>
          <p:cNvPicPr>
            <a:picLocks noChangeAspect="1"/>
          </p:cNvPicPr>
          <p:nvPr/>
        </p:nvPicPr>
        <p:blipFill>
          <a:blip r:embed="rId2"/>
          <a:stretch>
            <a:fillRect/>
          </a:stretch>
        </p:blipFill>
        <p:spPr>
          <a:xfrm>
            <a:off x="3200400" y="1463040"/>
            <a:ext cx="2377440" cy="2377440"/>
          </a:xfrm>
          <a:prstGeom prst="rect">
            <a:avLst/>
          </a:prstGeom>
        </p:spPr>
      </p:pic>
      <p:sp>
        <p:nvSpPr>
          <p:cNvPr id="8" name="Text 4"/>
          <p:cNvSpPr/>
          <p:nvPr/>
        </p:nvSpPr>
        <p:spPr>
          <a:xfrm>
            <a:off x="3200400" y="3931920"/>
            <a:ext cx="2377440" cy="274320"/>
          </a:xfrm>
          <a:prstGeom prst="rect">
            <a:avLst/>
          </a:prstGeom>
          <a:noFill/>
          <a:ln/>
        </p:spPr>
        <p:txBody>
          <a:bodyPr wrap="square" lIns="0" tIns="0" rIns="0" bIns="0" rtlCol="0" anchor="ctr"/>
          <a:lstStyle/>
          <a:p>
            <a:pPr indent="0" marL="0">
              <a:buNone/>
            </a:pPr>
            <a:r>
              <a:rPr lang="en-US" sz="1250" b="1" dirty="0">
                <a:solidFill>
                  <a:srgbClr val="131A1F"/>
                </a:solidFill>
                <a:latin typeface="Calibri" pitchFamily="34" charset="0"/>
                <a:ea typeface="Calibri" pitchFamily="34" charset="-122"/>
                <a:cs typeface="Calibri" pitchFamily="34" charset="-120"/>
              </a:rPr>
              <a:t>Weave Guard region</a:t>
            </a:r>
            <a:endParaRPr lang="en-US" sz="1250" dirty="0"/>
          </a:p>
        </p:txBody>
      </p:sp>
      <p:sp>
        <p:nvSpPr>
          <p:cNvPr id="9" name="Text 5"/>
          <p:cNvSpPr/>
          <p:nvPr/>
        </p:nvSpPr>
        <p:spPr>
          <a:xfrm>
            <a:off x="3200400" y="4197096"/>
            <a:ext cx="2377440" cy="1005840"/>
          </a:xfrm>
          <a:prstGeom prst="rect">
            <a:avLst/>
          </a:prstGeom>
          <a:noFill/>
          <a:ln/>
        </p:spPr>
        <p:txBody>
          <a:bodyPr wrap="square" lIns="0" tIns="0" rIns="0" bIns="0" rtlCol="0" anchor="ctr"/>
          <a:lstStyle/>
          <a:p>
            <a:pPr indent="0" marL="0">
              <a:lnSpc>
                <a:spcPts val="1400"/>
              </a:lnSpc>
              <a:buNone/>
            </a:pPr>
            <a:r>
              <a:rPr lang="en-US" sz="1050" dirty="0">
                <a:solidFill>
                  <a:srgbClr val="6A7B87"/>
                </a:solidFill>
                <a:latin typeface="Calibri" pitchFamily="34" charset="0"/>
                <a:ea typeface="Calibri" pitchFamily="34" charset="-122"/>
                <a:cs typeface="Calibri" pitchFamily="34" charset="-120"/>
              </a:rPr>
              <a:t>The most texture-dense patch inside the mask, found automatically — no hardcoded coordinates. On a saree it lands on the pallu brocade.</a:t>
            </a:r>
            <a:endParaRPr lang="en-US" sz="1050" dirty="0"/>
          </a:p>
        </p:txBody>
      </p:sp>
      <p:sp>
        <p:nvSpPr>
          <p:cNvPr id="10" name="Text 6"/>
          <p:cNvSpPr/>
          <p:nvPr/>
        </p:nvSpPr>
        <p:spPr>
          <a:xfrm>
            <a:off x="6263640" y="1481328"/>
            <a:ext cx="5486400" cy="365760"/>
          </a:xfrm>
          <a:prstGeom prst="rect">
            <a:avLst/>
          </a:prstGeom>
          <a:noFill/>
          <a:ln/>
        </p:spPr>
        <p:txBody>
          <a:bodyPr wrap="square" lIns="0" tIns="0" rIns="0" bIns="0" rtlCol="0" anchor="ctr"/>
          <a:lstStyle/>
          <a:p>
            <a:pPr indent="0" marL="0">
              <a:buNone/>
            </a:pPr>
            <a:r>
              <a:rPr lang="en-US" sz="2000" b="1" dirty="0">
                <a:solidFill>
                  <a:srgbClr val="131A1F"/>
                </a:solidFill>
                <a:latin typeface="Cambria" pitchFamily="34" charset="0"/>
                <a:ea typeface="Cambria" pitchFamily="34" charset="-122"/>
                <a:cs typeface="Cambria" pitchFamily="34" charset="-120"/>
              </a:rPr>
              <a:t>Reference signature</a:t>
            </a:r>
            <a:endParaRPr lang="en-US" sz="2000" dirty="0"/>
          </a:p>
        </p:txBody>
      </p:sp>
      <p:sp>
        <p:nvSpPr>
          <p:cNvPr id="11" name="Text 7"/>
          <p:cNvSpPr/>
          <p:nvPr/>
        </p:nvSpPr>
        <p:spPr>
          <a:xfrm>
            <a:off x="6263640" y="1847088"/>
            <a:ext cx="5349240" cy="365760"/>
          </a:xfrm>
          <a:prstGeom prst="rect">
            <a:avLst/>
          </a:prstGeom>
          <a:noFill/>
          <a:ln/>
        </p:spPr>
        <p:txBody>
          <a:bodyPr wrap="square" lIns="0" tIns="0" rIns="0" bIns="0" rtlCol="0" anchor="ctr"/>
          <a:lstStyle/>
          <a:p>
            <a:pPr indent="0" marL="0">
              <a:buNone/>
            </a:pPr>
            <a:r>
              <a:rPr lang="en-US" sz="1250" dirty="0">
                <a:solidFill>
                  <a:srgbClr val="6A7B87"/>
                </a:solidFill>
                <a:latin typeface="Calibri" pitchFamily="34" charset="0"/>
                <a:ea typeface="Calibri" pitchFamily="34" charset="-122"/>
                <a:cs typeface="Calibri" pitchFamily="34" charset="-120"/>
              </a:rPr>
              <a:t>Computed once per product and reused for every video and every re-score.</a:t>
            </a:r>
            <a:endParaRPr lang="en-US" sz="1250" dirty="0"/>
          </a:p>
        </p:txBody>
      </p:sp>
      <p:sp>
        <p:nvSpPr>
          <p:cNvPr id="12" name="Text 8"/>
          <p:cNvSpPr/>
          <p:nvPr/>
        </p:nvSpPr>
        <p:spPr>
          <a:xfrm>
            <a:off x="6263640" y="2377440"/>
            <a:ext cx="1828800" cy="274320"/>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Palette</a:t>
            </a:r>
            <a:endParaRPr lang="en-US" sz="1250" dirty="0"/>
          </a:p>
        </p:txBody>
      </p:sp>
      <p:sp>
        <p:nvSpPr>
          <p:cNvPr id="13" name="Text 9"/>
          <p:cNvSpPr/>
          <p:nvPr/>
        </p:nvSpPr>
        <p:spPr>
          <a:xfrm>
            <a:off x="8138160" y="2377440"/>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5 dominant colours, CIELAB k-means, garment pixels only</a:t>
            </a:r>
            <a:endParaRPr lang="en-US" sz="1150" dirty="0"/>
          </a:p>
        </p:txBody>
      </p:sp>
      <p:sp>
        <p:nvSpPr>
          <p:cNvPr id="14" name="Shape 10"/>
          <p:cNvSpPr/>
          <p:nvPr/>
        </p:nvSpPr>
        <p:spPr>
          <a:xfrm>
            <a:off x="6263640" y="2926080"/>
            <a:ext cx="5394960" cy="7315"/>
          </a:xfrm>
          <a:prstGeom prst="rect">
            <a:avLst/>
          </a:prstGeom>
          <a:solidFill>
            <a:srgbClr val="E1E6E9"/>
          </a:solidFill>
          <a:ln/>
        </p:spPr>
      </p:sp>
      <p:sp>
        <p:nvSpPr>
          <p:cNvPr id="15" name="Text 11"/>
          <p:cNvSpPr/>
          <p:nvPr/>
        </p:nvSpPr>
        <p:spPr>
          <a:xfrm>
            <a:off x="6263640" y="3035808"/>
            <a:ext cx="1828800" cy="274320"/>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Weave descriptor</a:t>
            </a:r>
            <a:endParaRPr lang="en-US" sz="1250" dirty="0"/>
          </a:p>
        </p:txBody>
      </p:sp>
      <p:sp>
        <p:nvSpPr>
          <p:cNvPr id="16" name="Text 12"/>
          <p:cNvSpPr/>
          <p:nvPr/>
        </p:nvSpPr>
        <p:spPr>
          <a:xfrm>
            <a:off x="8138160" y="3035808"/>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27-d — Gabor bank + FFT radial profile + absolute HF energy</a:t>
            </a:r>
            <a:endParaRPr lang="en-US" sz="1150" dirty="0"/>
          </a:p>
        </p:txBody>
      </p:sp>
      <p:sp>
        <p:nvSpPr>
          <p:cNvPr id="17" name="Shape 13"/>
          <p:cNvSpPr/>
          <p:nvPr/>
        </p:nvSpPr>
        <p:spPr>
          <a:xfrm>
            <a:off x="6263640" y="3584448"/>
            <a:ext cx="5394960" cy="7315"/>
          </a:xfrm>
          <a:prstGeom prst="rect">
            <a:avLst/>
          </a:prstGeom>
          <a:solidFill>
            <a:srgbClr val="E1E6E9"/>
          </a:solidFill>
          <a:ln/>
        </p:spPr>
      </p:sp>
      <p:sp>
        <p:nvSpPr>
          <p:cNvPr id="18" name="Text 14"/>
          <p:cNvSpPr/>
          <p:nvPr/>
        </p:nvSpPr>
        <p:spPr>
          <a:xfrm>
            <a:off x="6263640" y="3694176"/>
            <a:ext cx="1828800" cy="274320"/>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Identity vector</a:t>
            </a:r>
            <a:endParaRPr lang="en-US" sz="1250" dirty="0"/>
          </a:p>
        </p:txBody>
      </p:sp>
      <p:sp>
        <p:nvSpPr>
          <p:cNvPr id="19" name="Text 15"/>
          <p:cNvSpPr/>
          <p:nvPr/>
        </p:nvSpPr>
        <p:spPr>
          <a:xfrm>
            <a:off x="8138160" y="3694176"/>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512-d CLIP embedding of the masked garment crop</a:t>
            </a:r>
            <a:endParaRPr lang="en-US" sz="1150" dirty="0"/>
          </a:p>
        </p:txBody>
      </p:sp>
      <p:sp>
        <p:nvSpPr>
          <p:cNvPr id="20" name="Shape 16"/>
          <p:cNvSpPr/>
          <p:nvPr/>
        </p:nvSpPr>
        <p:spPr>
          <a:xfrm>
            <a:off x="6263640" y="4242816"/>
            <a:ext cx="5394960" cy="7315"/>
          </a:xfrm>
          <a:prstGeom prst="rect">
            <a:avLst/>
          </a:prstGeom>
          <a:solidFill>
            <a:srgbClr val="E1E6E9"/>
          </a:solidFill>
          <a:ln/>
        </p:spPr>
      </p:sp>
      <p:sp>
        <p:nvSpPr>
          <p:cNvPr id="21" name="Text 17"/>
          <p:cNvSpPr/>
          <p:nvPr/>
        </p:nvSpPr>
        <p:spPr>
          <a:xfrm>
            <a:off x="6263640" y="4352544"/>
            <a:ext cx="1828800" cy="274320"/>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Detail patch</a:t>
            </a:r>
            <a:endParaRPr lang="en-US" sz="1250" dirty="0"/>
          </a:p>
        </p:txBody>
      </p:sp>
      <p:sp>
        <p:nvSpPr>
          <p:cNvPr id="22" name="Text 18"/>
          <p:cNvSpPr/>
          <p:nvPr/>
        </p:nvSpPr>
        <p:spPr>
          <a:xfrm>
            <a:off x="8138160" y="4352544"/>
            <a:ext cx="3520440" cy="566928"/>
          </a:xfrm>
          <a:prstGeom prst="rect">
            <a:avLst/>
          </a:prstGeom>
          <a:noFill/>
          <a:ln/>
        </p:spPr>
        <p:txBody>
          <a:bodyPr wrap="square" lIns="0" tIns="0" rIns="0" bIns="0" rtlCol="0" anchor="ctr"/>
          <a:lstStyle/>
          <a:p>
            <a:pPr indent="0" marL="0">
              <a:lnSpc>
                <a:spcPts val="1500"/>
              </a:lnSpc>
              <a:buNone/>
            </a:pPr>
            <a:r>
              <a:rPr lang="en-US" sz="1150" dirty="0">
                <a:solidFill>
                  <a:srgbClr val="2B3A44"/>
                </a:solidFill>
                <a:latin typeface="Calibri" pitchFamily="34" charset="0"/>
                <a:ea typeface="Calibri" pitchFamily="34" charset="-122"/>
                <a:cs typeface="Calibri" pitchFamily="34" charset="-120"/>
              </a:rPr>
              <a:t>128×128 highest-texture square inside the mask</a:t>
            </a:r>
            <a:endParaRPr lang="en-US" sz="1150" dirty="0"/>
          </a:p>
        </p:txBody>
      </p:sp>
      <p:sp>
        <p:nvSpPr>
          <p:cNvPr id="23" name="Shape 19"/>
          <p:cNvSpPr/>
          <p:nvPr/>
        </p:nvSpPr>
        <p:spPr>
          <a:xfrm>
            <a:off x="6263640" y="4901184"/>
            <a:ext cx="5394960" cy="7315"/>
          </a:xfrm>
          <a:prstGeom prst="rect">
            <a:avLst/>
          </a:prstGeom>
          <a:solidFill>
            <a:srgbClr val="E1E6E9"/>
          </a:solidFill>
          <a:ln/>
        </p:spPr>
      </p:sp>
      <p:sp>
        <p:nvSpPr>
          <p:cNvPr id="24" name="Text 20"/>
          <p:cNvSpPr/>
          <p:nvPr/>
        </p:nvSpPr>
        <p:spPr>
          <a:xfrm>
            <a:off x="6263640" y="5120640"/>
            <a:ext cx="5394960" cy="731520"/>
          </a:xfrm>
          <a:prstGeom prst="rect">
            <a:avLst/>
          </a:prstGeom>
          <a:noFill/>
          <a:ln/>
        </p:spPr>
        <p:txBody>
          <a:bodyPr wrap="square" lIns="0" tIns="0" rIns="0" bIns="0" rtlCol="0" anchor="ctr"/>
          <a:lstStyle/>
          <a:p>
            <a:pPr indent="0" marL="0">
              <a:lnSpc>
                <a:spcPts val="1600"/>
              </a:lnSpc>
              <a:buNone/>
            </a:pPr>
            <a:r>
              <a:rPr lang="en-US" sz="1200" i="1" dirty="0">
                <a:solidFill>
                  <a:srgbClr val="2B3A44"/>
                </a:solidFill>
                <a:latin typeface="Calibri" pitchFamily="34" charset="0"/>
                <a:ea typeface="Calibri" pitchFamily="34" charset="-122"/>
                <a:cs typeface="Calibri" pitchFamily="34" charset="-120"/>
              </a:rPr>
              <a:t>Every fidelity metric is later measured against this — and only inside the mask, because the background is supposed to change completely.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STAGE 3 — SCENE BRIEFS</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Variation is structural, not verbal</a:t>
            </a:r>
            <a:endParaRPr lang="en-US" sz="3000" dirty="0"/>
          </a:p>
        </p:txBody>
      </p:sp>
      <p:sp>
        <p:nvSpPr>
          <p:cNvPr id="4" name="Text 2"/>
          <p:cNvSpPr/>
          <p:nvPr/>
        </p:nvSpPr>
        <p:spPr>
          <a:xfrm>
            <a:off x="566928" y="1417320"/>
            <a:ext cx="6675120" cy="548640"/>
          </a:xfrm>
          <a:prstGeom prst="rect">
            <a:avLst/>
          </a:prstGeom>
          <a:noFill/>
          <a:ln/>
        </p:spPr>
        <p:txBody>
          <a:bodyPr wrap="square" lIns="0" tIns="0" rIns="0" bIns="0" rtlCol="0" anchor="ctr"/>
          <a:lstStyle/>
          <a:p>
            <a:pPr indent="0" marL="0">
              <a:lnSpc>
                <a:spcPts val="2000"/>
              </a:lnSpc>
              <a:buNone/>
            </a:pPr>
            <a:r>
              <a:rPr lang="en-US" sz="1400" dirty="0">
                <a:solidFill>
                  <a:srgbClr val="6A7B87"/>
                </a:solidFill>
                <a:latin typeface="Calibri" pitchFamily="34" charset="0"/>
                <a:ea typeface="Calibri" pitchFamily="34" charset="-122"/>
                <a:cs typeface="Calibri" pitchFamily="34" charset="-120"/>
              </a:rPr>
              <a:t>Re-prompting one idea with different adjectives is exactly the failure the client complained about. Instead every brief is a point on a five-axis grid.</a:t>
            </a:r>
            <a:endParaRPr lang="en-US" sz="1400" dirty="0"/>
          </a:p>
        </p:txBody>
      </p:sp>
      <p:sp>
        <p:nvSpPr>
          <p:cNvPr id="5" name="Shape 3"/>
          <p:cNvSpPr/>
          <p:nvPr/>
        </p:nvSpPr>
        <p:spPr>
          <a:xfrm>
            <a:off x="566928" y="2148840"/>
            <a:ext cx="475488" cy="402336"/>
          </a:xfrm>
          <a:prstGeom prst="roundRect">
            <a:avLst>
              <a:gd name="adj" fmla="val 11364"/>
            </a:avLst>
          </a:prstGeom>
          <a:solidFill>
            <a:srgbClr val="0E7D8C"/>
          </a:solidFill>
          <a:ln w="12700">
            <a:solidFill>
              <a:srgbClr val="0E7D8C"/>
            </a:solidFill>
            <a:prstDash val="solid"/>
          </a:ln>
        </p:spPr>
      </p:sp>
      <p:sp>
        <p:nvSpPr>
          <p:cNvPr id="6" name="Text 4"/>
          <p:cNvSpPr/>
          <p:nvPr/>
        </p:nvSpPr>
        <p:spPr>
          <a:xfrm>
            <a:off x="566928" y="2194560"/>
            <a:ext cx="47548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p:nvPr/>
        </p:nvSpPr>
        <p:spPr>
          <a:xfrm>
            <a:off x="1188720" y="2167128"/>
            <a:ext cx="160020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Environment</a:t>
            </a:r>
            <a:endParaRPr lang="en-US" sz="1300" dirty="0"/>
          </a:p>
        </p:txBody>
      </p:sp>
      <p:sp>
        <p:nvSpPr>
          <p:cNvPr id="8" name="Text 6"/>
          <p:cNvSpPr/>
          <p:nvPr/>
        </p:nvSpPr>
        <p:spPr>
          <a:xfrm>
            <a:off x="2852928" y="2185416"/>
            <a:ext cx="4434840" cy="310896"/>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mansion · mandap · palace · café · resort · rooftop</a:t>
            </a:r>
            <a:endParaRPr lang="en-US" sz="1100" dirty="0"/>
          </a:p>
        </p:txBody>
      </p:sp>
      <p:sp>
        <p:nvSpPr>
          <p:cNvPr id="9" name="Shape 7"/>
          <p:cNvSpPr/>
          <p:nvPr/>
        </p:nvSpPr>
        <p:spPr>
          <a:xfrm>
            <a:off x="566928" y="2715768"/>
            <a:ext cx="475488" cy="402336"/>
          </a:xfrm>
          <a:prstGeom prst="roundRect">
            <a:avLst>
              <a:gd name="adj" fmla="val 11364"/>
            </a:avLst>
          </a:prstGeom>
          <a:solidFill>
            <a:srgbClr val="0E7D8C"/>
          </a:solidFill>
          <a:ln w="12700">
            <a:solidFill>
              <a:srgbClr val="0E7D8C"/>
            </a:solidFill>
            <a:prstDash val="solid"/>
          </a:ln>
        </p:spPr>
      </p:sp>
      <p:sp>
        <p:nvSpPr>
          <p:cNvPr id="10" name="Text 8"/>
          <p:cNvSpPr/>
          <p:nvPr/>
        </p:nvSpPr>
        <p:spPr>
          <a:xfrm>
            <a:off x="566928" y="2761488"/>
            <a:ext cx="47548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1" name="Text 9"/>
          <p:cNvSpPr/>
          <p:nvPr/>
        </p:nvSpPr>
        <p:spPr>
          <a:xfrm>
            <a:off x="1188720" y="2734056"/>
            <a:ext cx="160020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Lighting</a:t>
            </a:r>
            <a:endParaRPr lang="en-US" sz="1300" dirty="0"/>
          </a:p>
        </p:txBody>
      </p:sp>
      <p:sp>
        <p:nvSpPr>
          <p:cNvPr id="12" name="Text 10"/>
          <p:cNvSpPr/>
          <p:nvPr/>
        </p:nvSpPr>
        <p:spPr>
          <a:xfrm>
            <a:off x="2852928" y="2752344"/>
            <a:ext cx="4434840" cy="310896"/>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softbox · golden hour · lamp · overcast · practicals · high-key</a:t>
            </a:r>
            <a:endParaRPr lang="en-US" sz="1100" dirty="0"/>
          </a:p>
        </p:txBody>
      </p:sp>
      <p:sp>
        <p:nvSpPr>
          <p:cNvPr id="13" name="Shape 11"/>
          <p:cNvSpPr/>
          <p:nvPr/>
        </p:nvSpPr>
        <p:spPr>
          <a:xfrm>
            <a:off x="566928" y="3282696"/>
            <a:ext cx="475488" cy="402336"/>
          </a:xfrm>
          <a:prstGeom prst="roundRect">
            <a:avLst>
              <a:gd name="adj" fmla="val 11364"/>
            </a:avLst>
          </a:prstGeom>
          <a:solidFill>
            <a:srgbClr val="0E7D8C"/>
          </a:solidFill>
          <a:ln w="12700">
            <a:solidFill>
              <a:srgbClr val="0E7D8C"/>
            </a:solidFill>
            <a:prstDash val="solid"/>
          </a:ln>
        </p:spPr>
      </p:sp>
      <p:sp>
        <p:nvSpPr>
          <p:cNvPr id="14" name="Text 12"/>
          <p:cNvSpPr/>
          <p:nvPr/>
        </p:nvSpPr>
        <p:spPr>
          <a:xfrm>
            <a:off x="566928" y="3328416"/>
            <a:ext cx="47548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5" name="Text 13"/>
          <p:cNvSpPr/>
          <p:nvPr/>
        </p:nvSpPr>
        <p:spPr>
          <a:xfrm>
            <a:off x="1188720" y="3300984"/>
            <a:ext cx="160020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Camera</a:t>
            </a:r>
            <a:endParaRPr lang="en-US" sz="1300" dirty="0"/>
          </a:p>
        </p:txBody>
      </p:sp>
      <p:sp>
        <p:nvSpPr>
          <p:cNvPr id="16" name="Text 14"/>
          <p:cNvSpPr/>
          <p:nvPr/>
        </p:nvSpPr>
        <p:spPr>
          <a:xfrm>
            <a:off x="2852928" y="3319272"/>
            <a:ext cx="4434840" cy="310896"/>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push-in · orbit · vertical reveal · static · rack focus · parallax</a:t>
            </a:r>
            <a:endParaRPr lang="en-US" sz="1100" dirty="0"/>
          </a:p>
        </p:txBody>
      </p:sp>
      <p:sp>
        <p:nvSpPr>
          <p:cNvPr id="17" name="Shape 15"/>
          <p:cNvSpPr/>
          <p:nvPr/>
        </p:nvSpPr>
        <p:spPr>
          <a:xfrm>
            <a:off x="566928" y="3849624"/>
            <a:ext cx="475488" cy="402336"/>
          </a:xfrm>
          <a:prstGeom prst="roundRect">
            <a:avLst>
              <a:gd name="adj" fmla="val 11364"/>
            </a:avLst>
          </a:prstGeom>
          <a:solidFill>
            <a:srgbClr val="0E7D8C"/>
          </a:solidFill>
          <a:ln w="12700">
            <a:solidFill>
              <a:srgbClr val="0E7D8C"/>
            </a:solidFill>
            <a:prstDash val="solid"/>
          </a:ln>
        </p:spPr>
      </p:sp>
      <p:sp>
        <p:nvSpPr>
          <p:cNvPr id="18" name="Text 16"/>
          <p:cNvSpPr/>
          <p:nvPr/>
        </p:nvSpPr>
        <p:spPr>
          <a:xfrm>
            <a:off x="566928" y="3895344"/>
            <a:ext cx="47548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9" name="Text 17"/>
          <p:cNvSpPr/>
          <p:nvPr/>
        </p:nvSpPr>
        <p:spPr>
          <a:xfrm>
            <a:off x="1188720" y="3867912"/>
            <a:ext cx="160020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Concept</a:t>
            </a:r>
            <a:endParaRPr lang="en-US" sz="1300" dirty="0"/>
          </a:p>
        </p:txBody>
      </p:sp>
      <p:sp>
        <p:nvSpPr>
          <p:cNvPr id="20" name="Text 18"/>
          <p:cNvSpPr/>
          <p:nvPr/>
        </p:nvSpPr>
        <p:spPr>
          <a:xfrm>
            <a:off x="2852928" y="3886200"/>
            <a:ext cx="4434840" cy="310896"/>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heritage · occasion · everyday · gifting · luxury · styling</a:t>
            </a:r>
            <a:endParaRPr lang="en-US" sz="1100" dirty="0"/>
          </a:p>
        </p:txBody>
      </p:sp>
      <p:sp>
        <p:nvSpPr>
          <p:cNvPr id="21" name="Shape 19"/>
          <p:cNvSpPr/>
          <p:nvPr/>
        </p:nvSpPr>
        <p:spPr>
          <a:xfrm>
            <a:off x="566928" y="4416552"/>
            <a:ext cx="475488" cy="402336"/>
          </a:xfrm>
          <a:prstGeom prst="roundRect">
            <a:avLst>
              <a:gd name="adj" fmla="val 11364"/>
            </a:avLst>
          </a:prstGeom>
          <a:solidFill>
            <a:srgbClr val="0E7D8C"/>
          </a:solidFill>
          <a:ln w="12700">
            <a:solidFill>
              <a:srgbClr val="0E7D8C"/>
            </a:solidFill>
            <a:prstDash val="solid"/>
          </a:ln>
        </p:spPr>
      </p:sp>
      <p:sp>
        <p:nvSpPr>
          <p:cNvPr id="22" name="Text 20"/>
          <p:cNvSpPr/>
          <p:nvPr/>
        </p:nvSpPr>
        <p:spPr>
          <a:xfrm>
            <a:off x="566928" y="4462272"/>
            <a:ext cx="47548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188720" y="4434840"/>
            <a:ext cx="160020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Colour grade</a:t>
            </a:r>
            <a:endParaRPr lang="en-US" sz="1300" dirty="0"/>
          </a:p>
        </p:txBody>
      </p:sp>
      <p:sp>
        <p:nvSpPr>
          <p:cNvPr id="24" name="Text 22"/>
          <p:cNvSpPr/>
          <p:nvPr/>
        </p:nvSpPr>
        <p:spPr>
          <a:xfrm>
            <a:off x="2852928" y="4453128"/>
            <a:ext cx="4434840" cy="310896"/>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neutral · warm gold · cool editorial · rich festive</a:t>
            </a:r>
            <a:endParaRPr lang="en-US" sz="1100" dirty="0"/>
          </a:p>
        </p:txBody>
      </p:sp>
      <p:sp>
        <p:nvSpPr>
          <p:cNvPr id="25" name="Text 23"/>
          <p:cNvSpPr/>
          <p:nvPr/>
        </p:nvSpPr>
        <p:spPr>
          <a:xfrm>
            <a:off x="566928" y="5166360"/>
            <a:ext cx="210312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5,184</a:t>
            </a:r>
            <a:endParaRPr lang="en-US" sz="3400" dirty="0"/>
          </a:p>
        </p:txBody>
      </p:sp>
      <p:sp>
        <p:nvSpPr>
          <p:cNvPr id="26" name="Text 24"/>
          <p:cNvSpPr/>
          <p:nvPr/>
        </p:nvSpPr>
        <p:spPr>
          <a:xfrm>
            <a:off x="566928" y="567842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distinct grid points</a:t>
            </a:r>
            <a:endParaRPr lang="en-US" sz="1150" dirty="0"/>
          </a:p>
        </p:txBody>
      </p:sp>
      <p:sp>
        <p:nvSpPr>
          <p:cNvPr id="27" name="Text 25"/>
          <p:cNvSpPr/>
          <p:nvPr/>
        </p:nvSpPr>
        <p:spPr>
          <a:xfrm>
            <a:off x="2852928" y="5166360"/>
            <a:ext cx="2103120" cy="530352"/>
          </a:xfrm>
          <a:prstGeom prst="rect">
            <a:avLst/>
          </a:prstGeom>
          <a:noFill/>
          <a:ln/>
        </p:spPr>
        <p:txBody>
          <a:bodyPr wrap="square" lIns="0" tIns="0" rIns="0" bIns="0" rtlCol="0" anchor="ctr"/>
          <a:lstStyle/>
          <a:p>
            <a:pPr indent="0" marL="0">
              <a:buNone/>
            </a:pPr>
            <a:r>
              <a:rPr lang="en-US" sz="3400" b="1" dirty="0">
                <a:solidFill>
                  <a:srgbClr val="1A7A52"/>
                </a:solidFill>
                <a:latin typeface="Cambria" pitchFamily="34" charset="0"/>
                <a:ea typeface="Cambria" pitchFamily="34" charset="-122"/>
                <a:cs typeface="Cambria" pitchFamily="34" charset="-120"/>
              </a:rPr>
              <a:t>4 of 5</a:t>
            </a:r>
            <a:endParaRPr lang="en-US" sz="3400" dirty="0"/>
          </a:p>
        </p:txBody>
      </p:sp>
      <p:sp>
        <p:nvSpPr>
          <p:cNvPr id="28" name="Text 26"/>
          <p:cNvSpPr/>
          <p:nvPr/>
        </p:nvSpPr>
        <p:spPr>
          <a:xfrm>
            <a:off x="2852928" y="567842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axes differ, minimum achieved</a:t>
            </a:r>
            <a:endParaRPr lang="en-US" sz="1150" dirty="0"/>
          </a:p>
        </p:txBody>
      </p:sp>
      <p:sp>
        <p:nvSpPr>
          <p:cNvPr id="29" name="Text 27"/>
          <p:cNvSpPr/>
          <p:nvPr/>
        </p:nvSpPr>
        <p:spPr>
          <a:xfrm>
            <a:off x="5138928" y="5166360"/>
            <a:ext cx="219456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 3 of 5</a:t>
            </a:r>
            <a:endParaRPr lang="en-US" sz="3400" dirty="0"/>
          </a:p>
        </p:txBody>
      </p:sp>
      <p:sp>
        <p:nvSpPr>
          <p:cNvPr id="30" name="Text 28"/>
          <p:cNvSpPr/>
          <p:nvPr/>
        </p:nvSpPr>
        <p:spPr>
          <a:xfrm>
            <a:off x="5138928" y="5678424"/>
            <a:ext cx="219456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axes differ, hard rule enforced</a:t>
            </a:r>
            <a:endParaRPr lang="en-US" sz="1150" dirty="0"/>
          </a:p>
        </p:txBody>
      </p:sp>
      <p:sp>
        <p:nvSpPr>
          <p:cNvPr id="31" name="Shape 29"/>
          <p:cNvSpPr/>
          <p:nvPr/>
        </p:nvSpPr>
        <p:spPr>
          <a:xfrm>
            <a:off x="7635240" y="1463040"/>
            <a:ext cx="4023360" cy="3063240"/>
          </a:xfrm>
          <a:prstGeom prst="roundRect">
            <a:avLst>
              <a:gd name="adj" fmla="val 1791"/>
            </a:avLst>
          </a:prstGeom>
          <a:solidFill>
            <a:srgbClr val="F4F1EC"/>
          </a:solidFill>
          <a:ln w="9525">
            <a:solidFill>
              <a:srgbClr val="E1E6E9"/>
            </a:solidFill>
            <a:prstDash val="solid"/>
          </a:ln>
        </p:spPr>
      </p:sp>
      <p:sp>
        <p:nvSpPr>
          <p:cNvPr id="32" name="Text 30"/>
          <p:cNvSpPr/>
          <p:nvPr/>
        </p:nvSpPr>
        <p:spPr>
          <a:xfrm>
            <a:off x="7891272" y="1664208"/>
            <a:ext cx="3566160" cy="320040"/>
          </a:xfrm>
          <a:prstGeom prst="rect">
            <a:avLst/>
          </a:prstGeom>
          <a:noFill/>
          <a:ln/>
        </p:spPr>
        <p:txBody>
          <a:bodyPr wrap="square" lIns="0" tIns="0" rIns="0" bIns="0" rtlCol="0" anchor="ctr"/>
          <a:lstStyle/>
          <a:p>
            <a:pPr indent="0" marL="0">
              <a:buNone/>
            </a:pPr>
            <a:r>
              <a:rPr lang="en-US" sz="1600" b="1" dirty="0">
                <a:solidFill>
                  <a:srgbClr val="131A1F"/>
                </a:solidFill>
                <a:latin typeface="Cambria" pitchFamily="34" charset="0"/>
                <a:ea typeface="Cambria" pitchFamily="34" charset="-122"/>
                <a:cs typeface="Cambria" pitchFamily="34" charset="-120"/>
              </a:rPr>
              <a:t>How the rule is guaranteed</a:t>
            </a:r>
            <a:endParaRPr lang="en-US" sz="1600" dirty="0"/>
          </a:p>
        </p:txBody>
      </p:sp>
      <p:sp>
        <p:nvSpPr>
          <p:cNvPr id="33" name="Text 31"/>
          <p:cNvSpPr/>
          <p:nvPr/>
        </p:nvSpPr>
        <p:spPr>
          <a:xfrm>
            <a:off x="7891272" y="2057400"/>
            <a:ext cx="3520440" cy="228600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150" dirty="0">
                <a:solidFill>
                  <a:srgbClr val="2B3A44"/>
                </a:solidFill>
                <a:latin typeface="Calibri" pitchFamily="34" charset="0"/>
                <a:ea typeface="Calibri" pitchFamily="34" charset="-122"/>
                <a:cs typeface="Calibri" pitchFamily="34" charset="-120"/>
              </a:rPr>
              <a:t>Environment assigned deterministically — all six always used</a:t>
            </a:r>
            <a:endParaRPr lang="en-US" sz="1150" dirty="0"/>
          </a:p>
          <a:p>
            <a:pPr marL="342900" indent="-342900">
              <a:lnSpc>
                <a:spcPts val="2000"/>
              </a:lnSpc>
              <a:spcAft>
                <a:spcPts val="700"/>
              </a:spcAft>
              <a:buSzPct val="100000"/>
              <a:buChar char="•"/>
            </a:pPr>
            <a:r>
              <a:rPr lang="en-US" sz="1150" dirty="0">
                <a:solidFill>
                  <a:srgbClr val="2B3A44"/>
                </a:solidFill>
                <a:latin typeface="Calibri" pitchFamily="34" charset="0"/>
                <a:ea typeface="Calibri" pitchFamily="34" charset="-122"/>
                <a:cs typeface="Calibri" pitchFamily="34" charset="-120"/>
              </a:rPr>
              <a:t>Camera and concept drawn without replacement</a:t>
            </a:r>
            <a:endParaRPr lang="en-US" sz="1150" dirty="0"/>
          </a:p>
          <a:p>
            <a:pPr marL="342900" indent="-342900">
              <a:lnSpc>
                <a:spcPts val="2000"/>
              </a:lnSpc>
              <a:spcAft>
                <a:spcPts val="700"/>
              </a:spcAft>
              <a:buSzPct val="100000"/>
              <a:buChar char="•"/>
            </a:pPr>
            <a:r>
              <a:rPr lang="en-US" sz="1150" dirty="0">
                <a:solidFill>
                  <a:srgbClr val="2B3A44"/>
                </a:solidFill>
                <a:latin typeface="Calibri" pitchFamily="34" charset="0"/>
                <a:ea typeface="Calibri" pitchFamily="34" charset="-122"/>
                <a:cs typeface="Calibri" pitchFamily="34" charset="-120"/>
              </a:rPr>
              <a:t>Three axes unique ⇒ every pair differs on ≥ 3 by construction</a:t>
            </a:r>
            <a:endParaRPr lang="en-US" sz="1150" dirty="0"/>
          </a:p>
          <a:p>
            <a:pPr marL="342900" indent="-342900">
              <a:lnSpc>
                <a:spcPts val="2000"/>
              </a:lnSpc>
              <a:spcAft>
                <a:spcPts val="700"/>
              </a:spcAft>
              <a:buSzPct val="100000"/>
              <a:buChar char="•"/>
            </a:pPr>
            <a:r>
              <a:rPr lang="en-US" sz="1150" dirty="0">
                <a:solidFill>
                  <a:srgbClr val="2B3A44"/>
                </a:solidFill>
                <a:latin typeface="Calibri" pitchFamily="34" charset="0"/>
                <a:ea typeface="Calibri" pitchFamily="34" charset="-122"/>
                <a:cs typeface="Calibri" pitchFamily="34" charset="-120"/>
              </a:rPr>
              <a:t>Incoherent pairings excluded (no candlelit overcast rooftop)</a:t>
            </a:r>
            <a:endParaRPr lang="en-US" sz="1150" dirty="0"/>
          </a:p>
          <a:p>
            <a:pPr marL="342900" indent="-342900">
              <a:lnSpc>
                <a:spcPts val="2000"/>
              </a:lnSpc>
              <a:spcAft>
                <a:spcPts val="700"/>
              </a:spcAft>
              <a:buSzPct val="100000"/>
              <a:buChar char="•"/>
            </a:pPr>
            <a:r>
              <a:rPr lang="en-US" sz="1150" dirty="0">
                <a:solidFill>
                  <a:srgbClr val="2B3A44"/>
                </a:solidFill>
                <a:latin typeface="Calibri" pitchFamily="34" charset="0"/>
                <a:ea typeface="Calibri" pitchFamily="34" charset="-122"/>
                <a:cs typeface="Calibri" pitchFamily="34" charset="-120"/>
              </a:rPr>
              <a:t>Sampler raises rather than quietly relaxing the rule</a:t>
            </a:r>
            <a:endParaRPr lang="en-US" sz="1150" dirty="0"/>
          </a:p>
        </p:txBody>
      </p:sp>
      <p:sp>
        <p:nvSpPr>
          <p:cNvPr id="34" name="Shape 32"/>
          <p:cNvSpPr/>
          <p:nvPr/>
        </p:nvSpPr>
        <p:spPr>
          <a:xfrm>
            <a:off x="7635240" y="4709160"/>
            <a:ext cx="4023360" cy="1280160"/>
          </a:xfrm>
          <a:prstGeom prst="roundRect">
            <a:avLst>
              <a:gd name="adj" fmla="val 4286"/>
            </a:avLst>
          </a:prstGeom>
          <a:solidFill>
            <a:srgbClr val="131A1F"/>
          </a:solidFill>
          <a:ln w="12700">
            <a:solidFill>
              <a:srgbClr val="131A1F"/>
            </a:solidFill>
            <a:prstDash val="solid"/>
          </a:ln>
        </p:spPr>
      </p:sp>
      <p:sp>
        <p:nvSpPr>
          <p:cNvPr id="35" name="Text 33"/>
          <p:cNvSpPr/>
          <p:nvPr/>
        </p:nvSpPr>
        <p:spPr>
          <a:xfrm>
            <a:off x="7891272" y="4864608"/>
            <a:ext cx="3566160" cy="274320"/>
          </a:xfrm>
          <a:prstGeom prst="rect">
            <a:avLst/>
          </a:prstGeom>
          <a:noFill/>
          <a:ln/>
        </p:spPr>
        <p:txBody>
          <a:bodyPr wrap="square" lIns="0" tIns="0" rIns="0" bIns="0" rtlCol="0" anchor="ctr"/>
          <a:lstStyle/>
          <a:p>
            <a:pPr indent="0" marL="0">
              <a:buNone/>
            </a:pPr>
            <a:r>
              <a:rPr lang="en-US" sz="1100" b="1" spc="120" kern="0" dirty="0">
                <a:solidFill>
                  <a:srgbClr val="7FC3CE"/>
                </a:solidFill>
                <a:latin typeface="Calibri" pitchFamily="34" charset="0"/>
                <a:ea typeface="Calibri" pitchFamily="34" charset="-122"/>
                <a:cs typeface="Calibri" pitchFamily="34" charset="-120"/>
              </a:rPr>
              <a:t>Ekly exposes no API</a:t>
            </a:r>
            <a:endParaRPr lang="en-US" sz="1100" dirty="0"/>
          </a:p>
        </p:txBody>
      </p:sp>
      <p:sp>
        <p:nvSpPr>
          <p:cNvPr id="36" name="Text 34"/>
          <p:cNvSpPr/>
          <p:nvPr/>
        </p:nvSpPr>
        <p:spPr>
          <a:xfrm>
            <a:off x="7891272" y="5138928"/>
            <a:ext cx="3566160" cy="777240"/>
          </a:xfrm>
          <a:prstGeom prst="rect">
            <a:avLst/>
          </a:prstGeom>
          <a:noFill/>
          <a:ln/>
        </p:spPr>
        <p:txBody>
          <a:bodyPr wrap="square" lIns="0" tIns="0" rIns="0" bIns="0" rtlCol="0" anchor="ctr"/>
          <a:lstStyle/>
          <a:p>
            <a:pPr indent="0" marL="0">
              <a:lnSpc>
                <a:spcPts val="1400"/>
              </a:lnSpc>
              <a:buNone/>
            </a:pPr>
            <a:r>
              <a:rPr lang="en-US" sz="1100" dirty="0">
                <a:solidFill>
                  <a:srgbClr val="C9D6DC"/>
                </a:solidFill>
                <a:latin typeface="Calibri" pitchFamily="34" charset="0"/>
                <a:ea typeface="Calibri" pitchFamily="34" charset="-122"/>
                <a:cs typeface="Calibri" pitchFamily="34" charset="-120"/>
              </a:rPr>
              <a:t>Briefs are exported as a copy-paste operator sheet with the reference image. A human generates them. Expected cost: 273.00 credits for six.</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GATE 1 — FIDELITY LOCK</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Four metrics, inside the mask, on every 5th frame</a:t>
            </a:r>
            <a:endParaRPr lang="en-US" sz="3000" dirty="0"/>
          </a:p>
        </p:txBody>
      </p:sp>
      <p:sp>
        <p:nvSpPr>
          <p:cNvPr id="4" name="Shape 2"/>
          <p:cNvSpPr/>
          <p:nvPr/>
        </p:nvSpPr>
        <p:spPr>
          <a:xfrm>
            <a:off x="566928" y="1463040"/>
            <a:ext cx="2578608" cy="2057400"/>
          </a:xfrm>
          <a:prstGeom prst="roundRect">
            <a:avLst>
              <a:gd name="adj" fmla="val 2667"/>
            </a:avLst>
          </a:prstGeom>
          <a:solidFill>
            <a:srgbClr val="F4F1EC"/>
          </a:solidFill>
          <a:ln w="9525">
            <a:solidFill>
              <a:srgbClr val="E1E6E9"/>
            </a:solidFill>
            <a:prstDash val="solid"/>
          </a:ln>
        </p:spPr>
      </p:sp>
      <p:sp>
        <p:nvSpPr>
          <p:cNvPr id="5" name="Text 3"/>
          <p:cNvSpPr/>
          <p:nvPr/>
        </p:nvSpPr>
        <p:spPr>
          <a:xfrm>
            <a:off x="768096" y="1600200"/>
            <a:ext cx="2194560" cy="457200"/>
          </a:xfrm>
          <a:prstGeom prst="rect">
            <a:avLst/>
          </a:prstGeom>
          <a:noFill/>
          <a:ln/>
        </p:spPr>
        <p:txBody>
          <a:bodyPr wrap="square" lIns="0" tIns="0" rIns="0" bIns="0" rtlCol="0" anchor="ctr"/>
          <a:lstStyle/>
          <a:p>
            <a:pPr indent="0" marL="0">
              <a:buNone/>
            </a:pPr>
            <a:r>
              <a:rPr lang="en-US" sz="2600" b="1" dirty="0">
                <a:solidFill>
                  <a:srgbClr val="A8342A"/>
                </a:solidFill>
                <a:latin typeface="Cambria" pitchFamily="34" charset="0"/>
                <a:ea typeface="Cambria" pitchFamily="34" charset="-122"/>
                <a:cs typeface="Cambria" pitchFamily="34" charset="-120"/>
              </a:rPr>
              <a:t>0.35</a:t>
            </a:r>
            <a:endParaRPr lang="en-US" sz="2600" dirty="0"/>
          </a:p>
        </p:txBody>
      </p:sp>
      <p:sp>
        <p:nvSpPr>
          <p:cNvPr id="6" name="Text 4"/>
          <p:cNvSpPr/>
          <p:nvPr/>
        </p:nvSpPr>
        <p:spPr>
          <a:xfrm>
            <a:off x="768096" y="2048256"/>
            <a:ext cx="2194560" cy="219456"/>
          </a:xfrm>
          <a:prstGeom prst="rect">
            <a:avLst/>
          </a:prstGeom>
          <a:noFill/>
          <a:ln/>
        </p:spPr>
        <p:txBody>
          <a:bodyPr wrap="square" lIns="0" tIns="0" rIns="0" bIns="0" rtlCol="0" anchor="ctr"/>
          <a:lstStyle/>
          <a:p>
            <a:pPr indent="0" marL="0">
              <a:buNone/>
            </a:pPr>
            <a:r>
              <a:rPr lang="en-US" sz="950" spc="100" kern="0" dirty="0">
                <a:solidFill>
                  <a:srgbClr val="6A7B87"/>
                </a:solidFill>
                <a:latin typeface="Calibri" pitchFamily="34" charset="0"/>
                <a:ea typeface="Calibri" pitchFamily="34" charset="-122"/>
                <a:cs typeface="Calibri" pitchFamily="34" charset="-120"/>
              </a:rPr>
              <a:t>weight</a:t>
            </a:r>
            <a:endParaRPr lang="en-US" sz="950" dirty="0"/>
          </a:p>
        </p:txBody>
      </p:sp>
      <p:sp>
        <p:nvSpPr>
          <p:cNvPr id="7" name="Text 5"/>
          <p:cNvSpPr/>
          <p:nvPr/>
        </p:nvSpPr>
        <p:spPr>
          <a:xfrm>
            <a:off x="768096" y="2331720"/>
            <a:ext cx="2194560" cy="274320"/>
          </a:xfrm>
          <a:prstGeom prst="rect">
            <a:avLst/>
          </a:prstGeom>
          <a:noFill/>
          <a:ln/>
        </p:spPr>
        <p:txBody>
          <a:bodyPr wrap="square" lIns="0" tIns="0" rIns="0" bIns="0" rtlCol="0" anchor="ctr"/>
          <a:lstStyle/>
          <a:p>
            <a:pPr indent="0" marL="0">
              <a:buNone/>
            </a:pPr>
            <a:r>
              <a:rPr lang="en-US" sz="1400" b="1" dirty="0">
                <a:solidFill>
                  <a:srgbClr val="131A1F"/>
                </a:solidFill>
                <a:latin typeface="Calibri" pitchFamily="34" charset="0"/>
                <a:ea typeface="Calibri" pitchFamily="34" charset="-122"/>
                <a:cs typeface="Calibri" pitchFamily="34" charset="-120"/>
              </a:rPr>
              <a:t>Colour</a:t>
            </a:r>
            <a:endParaRPr lang="en-US" sz="1400" dirty="0"/>
          </a:p>
        </p:txBody>
      </p:sp>
      <p:sp>
        <p:nvSpPr>
          <p:cNvPr id="8" name="Text 6"/>
          <p:cNvSpPr/>
          <p:nvPr/>
        </p:nvSpPr>
        <p:spPr>
          <a:xfrm>
            <a:off x="768096" y="2596896"/>
            <a:ext cx="2194560" cy="237744"/>
          </a:xfrm>
          <a:prstGeom prst="rect">
            <a:avLst/>
          </a:prstGeom>
          <a:noFill/>
          <a:ln/>
        </p:spPr>
        <p:txBody>
          <a:bodyPr wrap="square" lIns="0" tIns="0" rIns="0" bIns="0" rtlCol="0" anchor="ctr"/>
          <a:lstStyle/>
          <a:p>
            <a:pPr indent="0" marL="0">
              <a:buNone/>
            </a:pPr>
            <a:r>
              <a:rPr lang="en-US" sz="1050" dirty="0">
                <a:solidFill>
                  <a:srgbClr val="0A5D69"/>
                </a:solidFill>
                <a:latin typeface="Calibri" pitchFamily="34" charset="0"/>
                <a:ea typeface="Calibri" pitchFamily="34" charset="-122"/>
                <a:cs typeface="Calibri" pitchFamily="34" charset="-120"/>
              </a:rPr>
              <a:t>ΔE2000</a:t>
            </a:r>
            <a:endParaRPr lang="en-US" sz="1050" dirty="0"/>
          </a:p>
        </p:txBody>
      </p:sp>
      <p:sp>
        <p:nvSpPr>
          <p:cNvPr id="9" name="Text 7"/>
          <p:cNvSpPr/>
          <p:nvPr/>
        </p:nvSpPr>
        <p:spPr>
          <a:xfrm>
            <a:off x="768096" y="2871216"/>
            <a:ext cx="2212848" cy="566928"/>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Dye shift — what a customer notices on arrival</a:t>
            </a:r>
            <a:endParaRPr lang="en-US" sz="1050" dirty="0"/>
          </a:p>
        </p:txBody>
      </p:sp>
      <p:sp>
        <p:nvSpPr>
          <p:cNvPr id="10" name="Shape 8"/>
          <p:cNvSpPr/>
          <p:nvPr/>
        </p:nvSpPr>
        <p:spPr>
          <a:xfrm>
            <a:off x="3328416" y="1463040"/>
            <a:ext cx="2578608" cy="2057400"/>
          </a:xfrm>
          <a:prstGeom prst="roundRect">
            <a:avLst>
              <a:gd name="adj" fmla="val 2667"/>
            </a:avLst>
          </a:prstGeom>
          <a:solidFill>
            <a:srgbClr val="F4F1EC"/>
          </a:solidFill>
          <a:ln w="9525">
            <a:solidFill>
              <a:srgbClr val="E1E6E9"/>
            </a:solidFill>
            <a:prstDash val="solid"/>
          </a:ln>
        </p:spPr>
      </p:sp>
      <p:sp>
        <p:nvSpPr>
          <p:cNvPr id="11" name="Text 9"/>
          <p:cNvSpPr/>
          <p:nvPr/>
        </p:nvSpPr>
        <p:spPr>
          <a:xfrm>
            <a:off x="3529584" y="1600200"/>
            <a:ext cx="2194560" cy="457200"/>
          </a:xfrm>
          <a:prstGeom prst="rect">
            <a:avLst/>
          </a:prstGeom>
          <a:noFill/>
          <a:ln/>
        </p:spPr>
        <p:txBody>
          <a:bodyPr wrap="square" lIns="0" tIns="0" rIns="0" bIns="0" rtlCol="0" anchor="ctr"/>
          <a:lstStyle/>
          <a:p>
            <a:pPr indent="0" marL="0">
              <a:buNone/>
            </a:pPr>
            <a:r>
              <a:rPr lang="en-US" sz="2600" b="1" dirty="0">
                <a:solidFill>
                  <a:srgbClr val="0A5D69"/>
                </a:solidFill>
                <a:latin typeface="Cambria" pitchFamily="34" charset="0"/>
                <a:ea typeface="Cambria" pitchFamily="34" charset="-122"/>
                <a:cs typeface="Cambria" pitchFamily="34" charset="-120"/>
              </a:rPr>
              <a:t>0.30</a:t>
            </a:r>
            <a:endParaRPr lang="en-US" sz="2600" dirty="0"/>
          </a:p>
        </p:txBody>
      </p:sp>
      <p:sp>
        <p:nvSpPr>
          <p:cNvPr id="12" name="Text 10"/>
          <p:cNvSpPr/>
          <p:nvPr/>
        </p:nvSpPr>
        <p:spPr>
          <a:xfrm>
            <a:off x="3529584" y="2048256"/>
            <a:ext cx="2194560" cy="219456"/>
          </a:xfrm>
          <a:prstGeom prst="rect">
            <a:avLst/>
          </a:prstGeom>
          <a:noFill/>
          <a:ln/>
        </p:spPr>
        <p:txBody>
          <a:bodyPr wrap="square" lIns="0" tIns="0" rIns="0" bIns="0" rtlCol="0" anchor="ctr"/>
          <a:lstStyle/>
          <a:p>
            <a:pPr indent="0" marL="0">
              <a:buNone/>
            </a:pPr>
            <a:r>
              <a:rPr lang="en-US" sz="950" spc="100" kern="0" dirty="0">
                <a:solidFill>
                  <a:srgbClr val="6A7B87"/>
                </a:solidFill>
                <a:latin typeface="Calibri" pitchFamily="34" charset="0"/>
                <a:ea typeface="Calibri" pitchFamily="34" charset="-122"/>
                <a:cs typeface="Calibri" pitchFamily="34" charset="-120"/>
              </a:rPr>
              <a:t>weight</a:t>
            </a:r>
            <a:endParaRPr lang="en-US" sz="950" dirty="0"/>
          </a:p>
        </p:txBody>
      </p:sp>
      <p:sp>
        <p:nvSpPr>
          <p:cNvPr id="13" name="Text 11"/>
          <p:cNvSpPr/>
          <p:nvPr/>
        </p:nvSpPr>
        <p:spPr>
          <a:xfrm>
            <a:off x="3529584" y="2331720"/>
            <a:ext cx="2194560" cy="274320"/>
          </a:xfrm>
          <a:prstGeom prst="rect">
            <a:avLst/>
          </a:prstGeom>
          <a:noFill/>
          <a:ln/>
        </p:spPr>
        <p:txBody>
          <a:bodyPr wrap="square" lIns="0" tIns="0" rIns="0" bIns="0" rtlCol="0" anchor="ctr"/>
          <a:lstStyle/>
          <a:p>
            <a:pPr indent="0" marL="0">
              <a:buNone/>
            </a:pPr>
            <a:r>
              <a:rPr lang="en-US" sz="1400" b="1" dirty="0">
                <a:solidFill>
                  <a:srgbClr val="131A1F"/>
                </a:solidFill>
                <a:latin typeface="Calibri" pitchFamily="34" charset="0"/>
                <a:ea typeface="Calibri" pitchFamily="34" charset="-122"/>
                <a:cs typeface="Calibri" pitchFamily="34" charset="-120"/>
              </a:rPr>
              <a:t>Identity</a:t>
            </a:r>
            <a:endParaRPr lang="en-US" sz="1400" dirty="0"/>
          </a:p>
        </p:txBody>
      </p:sp>
      <p:sp>
        <p:nvSpPr>
          <p:cNvPr id="14" name="Text 12"/>
          <p:cNvSpPr/>
          <p:nvPr/>
        </p:nvSpPr>
        <p:spPr>
          <a:xfrm>
            <a:off x="3529584" y="2596896"/>
            <a:ext cx="2194560" cy="237744"/>
          </a:xfrm>
          <a:prstGeom prst="rect">
            <a:avLst/>
          </a:prstGeom>
          <a:noFill/>
          <a:ln/>
        </p:spPr>
        <p:txBody>
          <a:bodyPr wrap="square" lIns="0" tIns="0" rIns="0" bIns="0" rtlCol="0" anchor="ctr"/>
          <a:lstStyle/>
          <a:p>
            <a:pPr indent="0" marL="0">
              <a:buNone/>
            </a:pPr>
            <a:r>
              <a:rPr lang="en-US" sz="1050" dirty="0">
                <a:solidFill>
                  <a:srgbClr val="0A5D69"/>
                </a:solidFill>
                <a:latin typeface="Calibri" pitchFamily="34" charset="0"/>
                <a:ea typeface="Calibri" pitchFamily="34" charset="-122"/>
                <a:cs typeface="Calibri" pitchFamily="34" charset="-120"/>
              </a:rPr>
              <a:t>CLIP cosine</a:t>
            </a:r>
            <a:endParaRPr lang="en-US" sz="1050" dirty="0"/>
          </a:p>
        </p:txBody>
      </p:sp>
      <p:sp>
        <p:nvSpPr>
          <p:cNvPr id="15" name="Text 13"/>
          <p:cNvSpPr/>
          <p:nvPr/>
        </p:nvSpPr>
        <p:spPr>
          <a:xfrm>
            <a:off x="3529584" y="2871216"/>
            <a:ext cx="2212848" cy="566928"/>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A different garment substituted entirely</a:t>
            </a:r>
            <a:endParaRPr lang="en-US" sz="1050" dirty="0"/>
          </a:p>
        </p:txBody>
      </p:sp>
      <p:sp>
        <p:nvSpPr>
          <p:cNvPr id="16" name="Shape 14"/>
          <p:cNvSpPr/>
          <p:nvPr/>
        </p:nvSpPr>
        <p:spPr>
          <a:xfrm>
            <a:off x="6089904" y="1463040"/>
            <a:ext cx="2578608" cy="2057400"/>
          </a:xfrm>
          <a:prstGeom prst="roundRect">
            <a:avLst>
              <a:gd name="adj" fmla="val 2667"/>
            </a:avLst>
          </a:prstGeom>
          <a:solidFill>
            <a:srgbClr val="F4F1EC"/>
          </a:solidFill>
          <a:ln w="9525">
            <a:solidFill>
              <a:srgbClr val="E1E6E9"/>
            </a:solidFill>
            <a:prstDash val="solid"/>
          </a:ln>
        </p:spPr>
      </p:sp>
      <p:sp>
        <p:nvSpPr>
          <p:cNvPr id="17" name="Text 15"/>
          <p:cNvSpPr/>
          <p:nvPr/>
        </p:nvSpPr>
        <p:spPr>
          <a:xfrm>
            <a:off x="6291072" y="1600200"/>
            <a:ext cx="2194560" cy="457200"/>
          </a:xfrm>
          <a:prstGeom prst="rect">
            <a:avLst/>
          </a:prstGeom>
          <a:noFill/>
          <a:ln/>
        </p:spPr>
        <p:txBody>
          <a:bodyPr wrap="square" lIns="0" tIns="0" rIns="0" bIns="0" rtlCol="0" anchor="ctr"/>
          <a:lstStyle/>
          <a:p>
            <a:pPr indent="0" marL="0">
              <a:buNone/>
            </a:pPr>
            <a:r>
              <a:rPr lang="en-US" sz="2600" b="1" dirty="0">
                <a:solidFill>
                  <a:srgbClr val="8A5D00"/>
                </a:solidFill>
                <a:latin typeface="Cambria" pitchFamily="34" charset="0"/>
                <a:ea typeface="Cambria" pitchFamily="34" charset="-122"/>
                <a:cs typeface="Cambria" pitchFamily="34" charset="-120"/>
              </a:rPr>
              <a:t>0.25</a:t>
            </a:r>
            <a:endParaRPr lang="en-US" sz="2600" dirty="0"/>
          </a:p>
        </p:txBody>
      </p:sp>
      <p:sp>
        <p:nvSpPr>
          <p:cNvPr id="18" name="Text 16"/>
          <p:cNvSpPr/>
          <p:nvPr/>
        </p:nvSpPr>
        <p:spPr>
          <a:xfrm>
            <a:off x="6291072" y="2048256"/>
            <a:ext cx="2194560" cy="219456"/>
          </a:xfrm>
          <a:prstGeom prst="rect">
            <a:avLst/>
          </a:prstGeom>
          <a:noFill/>
          <a:ln/>
        </p:spPr>
        <p:txBody>
          <a:bodyPr wrap="square" lIns="0" tIns="0" rIns="0" bIns="0" rtlCol="0" anchor="ctr"/>
          <a:lstStyle/>
          <a:p>
            <a:pPr indent="0" marL="0">
              <a:buNone/>
            </a:pPr>
            <a:r>
              <a:rPr lang="en-US" sz="950" spc="100" kern="0" dirty="0">
                <a:solidFill>
                  <a:srgbClr val="6A7B87"/>
                </a:solidFill>
                <a:latin typeface="Calibri" pitchFamily="34" charset="0"/>
                <a:ea typeface="Calibri" pitchFamily="34" charset="-122"/>
                <a:cs typeface="Calibri" pitchFamily="34" charset="-120"/>
              </a:rPr>
              <a:t>weight</a:t>
            </a:r>
            <a:endParaRPr lang="en-US" sz="950" dirty="0"/>
          </a:p>
        </p:txBody>
      </p:sp>
      <p:sp>
        <p:nvSpPr>
          <p:cNvPr id="19" name="Text 17"/>
          <p:cNvSpPr/>
          <p:nvPr/>
        </p:nvSpPr>
        <p:spPr>
          <a:xfrm>
            <a:off x="6291072" y="2331720"/>
            <a:ext cx="2194560" cy="274320"/>
          </a:xfrm>
          <a:prstGeom prst="rect">
            <a:avLst/>
          </a:prstGeom>
          <a:noFill/>
          <a:ln/>
        </p:spPr>
        <p:txBody>
          <a:bodyPr wrap="square" lIns="0" tIns="0" rIns="0" bIns="0" rtlCol="0" anchor="ctr"/>
          <a:lstStyle/>
          <a:p>
            <a:pPr indent="0" marL="0">
              <a:buNone/>
            </a:pPr>
            <a:r>
              <a:rPr lang="en-US" sz="1400" b="1" dirty="0">
                <a:solidFill>
                  <a:srgbClr val="131A1F"/>
                </a:solidFill>
                <a:latin typeface="Calibri" pitchFamily="34" charset="0"/>
                <a:ea typeface="Calibri" pitchFamily="34" charset="-122"/>
                <a:cs typeface="Calibri" pitchFamily="34" charset="-120"/>
              </a:rPr>
              <a:t>Weave</a:t>
            </a:r>
            <a:endParaRPr lang="en-US" sz="1400" dirty="0"/>
          </a:p>
        </p:txBody>
      </p:sp>
      <p:sp>
        <p:nvSpPr>
          <p:cNvPr id="20" name="Text 18"/>
          <p:cNvSpPr/>
          <p:nvPr/>
        </p:nvSpPr>
        <p:spPr>
          <a:xfrm>
            <a:off x="6291072" y="2596896"/>
            <a:ext cx="2194560" cy="237744"/>
          </a:xfrm>
          <a:prstGeom prst="rect">
            <a:avLst/>
          </a:prstGeom>
          <a:noFill/>
          <a:ln/>
        </p:spPr>
        <p:txBody>
          <a:bodyPr wrap="square" lIns="0" tIns="0" rIns="0" bIns="0" rtlCol="0" anchor="ctr"/>
          <a:lstStyle/>
          <a:p>
            <a:pPr indent="0" marL="0">
              <a:buNone/>
            </a:pPr>
            <a:r>
              <a:rPr lang="en-US" sz="1050" dirty="0">
                <a:solidFill>
                  <a:srgbClr val="0A5D69"/>
                </a:solidFill>
                <a:latin typeface="Calibri" pitchFamily="34" charset="0"/>
                <a:ea typeface="Calibri" pitchFamily="34" charset="-122"/>
                <a:cs typeface="Calibri" pitchFamily="34" charset="-120"/>
              </a:rPr>
              <a:t>Gabor + FFT</a:t>
            </a:r>
            <a:endParaRPr lang="en-US" sz="1050" dirty="0"/>
          </a:p>
        </p:txBody>
      </p:sp>
      <p:sp>
        <p:nvSpPr>
          <p:cNvPr id="21" name="Text 19"/>
          <p:cNvSpPr/>
          <p:nvPr/>
        </p:nvSpPr>
        <p:spPr>
          <a:xfrm>
            <a:off x="6291072" y="2871216"/>
            <a:ext cx="2212848" cy="566928"/>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Handloom rendered as flat plastic fabric</a:t>
            </a:r>
            <a:endParaRPr lang="en-US" sz="1050" dirty="0"/>
          </a:p>
        </p:txBody>
      </p:sp>
      <p:sp>
        <p:nvSpPr>
          <p:cNvPr id="22" name="Shape 20"/>
          <p:cNvSpPr/>
          <p:nvPr/>
        </p:nvSpPr>
        <p:spPr>
          <a:xfrm>
            <a:off x="8851392" y="1463040"/>
            <a:ext cx="2578608" cy="2057400"/>
          </a:xfrm>
          <a:prstGeom prst="roundRect">
            <a:avLst>
              <a:gd name="adj" fmla="val 2667"/>
            </a:avLst>
          </a:prstGeom>
          <a:solidFill>
            <a:srgbClr val="F4F1EC"/>
          </a:solidFill>
          <a:ln w="9525">
            <a:solidFill>
              <a:srgbClr val="E1E6E9"/>
            </a:solidFill>
            <a:prstDash val="solid"/>
          </a:ln>
        </p:spPr>
      </p:sp>
      <p:sp>
        <p:nvSpPr>
          <p:cNvPr id="23" name="Text 21"/>
          <p:cNvSpPr/>
          <p:nvPr/>
        </p:nvSpPr>
        <p:spPr>
          <a:xfrm>
            <a:off x="9052560" y="1600200"/>
            <a:ext cx="2194560" cy="457200"/>
          </a:xfrm>
          <a:prstGeom prst="rect">
            <a:avLst/>
          </a:prstGeom>
          <a:noFill/>
          <a:ln/>
        </p:spPr>
        <p:txBody>
          <a:bodyPr wrap="square" lIns="0" tIns="0" rIns="0" bIns="0" rtlCol="0" anchor="ctr"/>
          <a:lstStyle/>
          <a:p>
            <a:pPr indent="0" marL="0">
              <a:buNone/>
            </a:pPr>
            <a:r>
              <a:rPr lang="en-US" sz="2600" b="1" dirty="0">
                <a:solidFill>
                  <a:srgbClr val="2B3A44"/>
                </a:solidFill>
                <a:latin typeface="Cambria" pitchFamily="34" charset="0"/>
                <a:ea typeface="Cambria" pitchFamily="34" charset="-122"/>
                <a:cs typeface="Cambria" pitchFamily="34" charset="-120"/>
              </a:rPr>
              <a:t>0.10</a:t>
            </a:r>
            <a:endParaRPr lang="en-US" sz="2600" dirty="0"/>
          </a:p>
        </p:txBody>
      </p:sp>
      <p:sp>
        <p:nvSpPr>
          <p:cNvPr id="24" name="Text 22"/>
          <p:cNvSpPr/>
          <p:nvPr/>
        </p:nvSpPr>
        <p:spPr>
          <a:xfrm>
            <a:off x="9052560" y="2048256"/>
            <a:ext cx="2194560" cy="219456"/>
          </a:xfrm>
          <a:prstGeom prst="rect">
            <a:avLst/>
          </a:prstGeom>
          <a:noFill/>
          <a:ln/>
        </p:spPr>
        <p:txBody>
          <a:bodyPr wrap="square" lIns="0" tIns="0" rIns="0" bIns="0" rtlCol="0" anchor="ctr"/>
          <a:lstStyle/>
          <a:p>
            <a:pPr indent="0" marL="0">
              <a:buNone/>
            </a:pPr>
            <a:r>
              <a:rPr lang="en-US" sz="950" spc="100" kern="0" dirty="0">
                <a:solidFill>
                  <a:srgbClr val="6A7B87"/>
                </a:solidFill>
                <a:latin typeface="Calibri" pitchFamily="34" charset="0"/>
                <a:ea typeface="Calibri" pitchFamily="34" charset="-122"/>
                <a:cs typeface="Calibri" pitchFamily="34" charset="-120"/>
              </a:rPr>
              <a:t>weight</a:t>
            </a:r>
            <a:endParaRPr lang="en-US" sz="950" dirty="0"/>
          </a:p>
        </p:txBody>
      </p:sp>
      <p:sp>
        <p:nvSpPr>
          <p:cNvPr id="25" name="Text 23"/>
          <p:cNvSpPr/>
          <p:nvPr/>
        </p:nvSpPr>
        <p:spPr>
          <a:xfrm>
            <a:off x="9052560" y="2331720"/>
            <a:ext cx="2194560" cy="274320"/>
          </a:xfrm>
          <a:prstGeom prst="rect">
            <a:avLst/>
          </a:prstGeom>
          <a:noFill/>
          <a:ln/>
        </p:spPr>
        <p:txBody>
          <a:bodyPr wrap="square" lIns="0" tIns="0" rIns="0" bIns="0" rtlCol="0" anchor="ctr"/>
          <a:lstStyle/>
          <a:p>
            <a:pPr indent="0" marL="0">
              <a:buNone/>
            </a:pPr>
            <a:r>
              <a:rPr lang="en-US" sz="1400" b="1" dirty="0">
                <a:solidFill>
                  <a:srgbClr val="131A1F"/>
                </a:solidFill>
                <a:latin typeface="Calibri" pitchFamily="34" charset="0"/>
                <a:ea typeface="Calibri" pitchFamily="34" charset="-122"/>
                <a:cs typeface="Calibri" pitchFamily="34" charset="-120"/>
              </a:rPr>
              <a:t>Structure</a:t>
            </a:r>
            <a:endParaRPr lang="en-US" sz="1400" dirty="0"/>
          </a:p>
        </p:txBody>
      </p:sp>
      <p:sp>
        <p:nvSpPr>
          <p:cNvPr id="26" name="Text 24"/>
          <p:cNvSpPr/>
          <p:nvPr/>
        </p:nvSpPr>
        <p:spPr>
          <a:xfrm>
            <a:off x="9052560" y="2596896"/>
            <a:ext cx="2194560" cy="237744"/>
          </a:xfrm>
          <a:prstGeom prst="rect">
            <a:avLst/>
          </a:prstGeom>
          <a:noFill/>
          <a:ln/>
        </p:spPr>
        <p:txBody>
          <a:bodyPr wrap="square" lIns="0" tIns="0" rIns="0" bIns="0" rtlCol="0" anchor="ctr"/>
          <a:lstStyle/>
          <a:p>
            <a:pPr indent="0" marL="0">
              <a:buNone/>
            </a:pPr>
            <a:r>
              <a:rPr lang="en-US" sz="1050" dirty="0">
                <a:solidFill>
                  <a:srgbClr val="0A5D69"/>
                </a:solidFill>
                <a:latin typeface="Calibri" pitchFamily="34" charset="0"/>
                <a:ea typeface="Calibri" pitchFamily="34" charset="-122"/>
                <a:cs typeface="Calibri" pitchFamily="34" charset="-120"/>
              </a:rPr>
              <a:t>Aligned SSIM</a:t>
            </a:r>
            <a:endParaRPr lang="en-US" sz="1050" dirty="0"/>
          </a:p>
        </p:txBody>
      </p:sp>
      <p:sp>
        <p:nvSpPr>
          <p:cNvPr id="27" name="Text 25"/>
          <p:cNvSpPr/>
          <p:nvPr/>
        </p:nvSpPr>
        <p:spPr>
          <a:xfrm>
            <a:off x="9052560" y="2871216"/>
            <a:ext cx="2212848" cy="566928"/>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Border motif distorted or redrawn</a:t>
            </a:r>
            <a:endParaRPr lang="en-US" sz="1050" dirty="0"/>
          </a:p>
        </p:txBody>
      </p:sp>
      <p:sp>
        <p:nvSpPr>
          <p:cNvPr id="28" name="Text 26"/>
          <p:cNvSpPr/>
          <p:nvPr/>
        </p:nvSpPr>
        <p:spPr>
          <a:xfrm>
            <a:off x="566928" y="3794760"/>
            <a:ext cx="5486400" cy="365760"/>
          </a:xfrm>
          <a:prstGeom prst="rect">
            <a:avLst/>
          </a:prstGeom>
          <a:noFill/>
          <a:ln/>
        </p:spPr>
        <p:txBody>
          <a:bodyPr wrap="square" lIns="0" tIns="0" rIns="0" bIns="0" rtlCol="0" anchor="ctr"/>
          <a:lstStyle/>
          <a:p>
            <a:pPr indent="0" marL="0">
              <a:buNone/>
            </a:pPr>
            <a:r>
              <a:rPr lang="en-US" sz="1900" b="1" dirty="0">
                <a:solidFill>
                  <a:srgbClr val="131A1F"/>
                </a:solidFill>
                <a:latin typeface="Cambria" pitchFamily="34" charset="0"/>
                <a:ea typeface="Cambria" pitchFamily="34" charset="-122"/>
                <a:cs typeface="Cambria" pitchFamily="34" charset="-120"/>
              </a:rPr>
              <a:t>Why per frame, not per clip</a:t>
            </a:r>
            <a:endParaRPr lang="en-US" sz="1900" dirty="0"/>
          </a:p>
        </p:txBody>
      </p:sp>
      <p:sp>
        <p:nvSpPr>
          <p:cNvPr id="29" name="Text 27"/>
          <p:cNvSpPr/>
          <p:nvPr/>
        </p:nvSpPr>
        <p:spPr>
          <a:xfrm>
            <a:off x="566928" y="4187952"/>
            <a:ext cx="5577840" cy="777240"/>
          </a:xfrm>
          <a:prstGeom prst="rect">
            <a:avLst/>
          </a:prstGeom>
          <a:noFill/>
          <a:ln/>
        </p:spPr>
        <p:txBody>
          <a:bodyPr wrap="square" lIns="0" tIns="0" rIns="0" bIns="0" rtlCol="0" anchor="ctr"/>
          <a:lstStyle/>
          <a:p>
            <a:pPr indent="0" marL="0">
              <a:lnSpc>
                <a:spcPts val="1800"/>
              </a:lnSpc>
              <a:buNone/>
            </a:pPr>
            <a:r>
              <a:rPr lang="en-US" sz="1300" dirty="0">
                <a:solidFill>
                  <a:srgbClr val="2B3A44"/>
                </a:solidFill>
                <a:latin typeface="Calibri" pitchFamily="34" charset="0"/>
                <a:ea typeface="Calibri" pitchFamily="34" charset="-122"/>
                <a:cs typeface="Calibri" pitchFamily="34" charset="-120"/>
              </a:rPr>
              <a:t>Drift is transient. On our baseline clip fidelity starts at 87, dips to 61.1 at t = 2.83 s, then recovers. A single-frame check at t = 0 would have passed it.</a:t>
            </a:r>
            <a:endParaRPr lang="en-US" sz="1300" dirty="0"/>
          </a:p>
        </p:txBody>
      </p:sp>
      <p:sp>
        <p:nvSpPr>
          <p:cNvPr id="30" name="Text 28"/>
          <p:cNvSpPr/>
          <p:nvPr/>
        </p:nvSpPr>
        <p:spPr>
          <a:xfrm>
            <a:off x="566928" y="4983480"/>
            <a:ext cx="5577840" cy="192024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31 of 153 frames scored per clip, at stride 5</a:t>
            </a:r>
            <a:endParaRPr lang="en-US" sz="1250" dirty="0"/>
          </a:p>
          <a:p>
            <a:pPr marL="342900" indent="-342900">
              <a:lnSpc>
                <a:spcPts val="2000"/>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Combined into a Fidelity Score of 0–100</a:t>
            </a:r>
            <a:endParaRPr lang="en-US" sz="1250" dirty="0"/>
          </a:p>
          <a:p>
            <a:pPr marL="342900" indent="-342900">
              <a:lnSpc>
                <a:spcPts val="2000"/>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Threshold calibrated from the product's own image</a:t>
            </a:r>
            <a:endParaRPr lang="en-US" sz="1250" dirty="0"/>
          </a:p>
          <a:p>
            <a:pPr marL="342900" indent="-342900">
              <a:lnSpc>
                <a:spcPts val="2000"/>
              </a:lnSpc>
              <a:spcAft>
                <a:spcPts val="700"/>
              </a:spcAft>
              <a:buSzPct val="100000"/>
              <a:buChar char="•"/>
            </a:pPr>
            <a:r>
              <a:rPr lang="en-US" sz="1250" dirty="0">
                <a:solidFill>
                  <a:srgbClr val="2B3A44"/>
                </a:solidFill>
                <a:latin typeface="Calibri" pitchFamily="34" charset="0"/>
                <a:ea typeface="Calibri" pitchFamily="34" charset="-122"/>
                <a:cs typeface="Calibri" pitchFamily="34" charset="-120"/>
              </a:rPr>
              <a:t>Motion check catches frozen clips and hard cuts</a:t>
            </a:r>
            <a:endParaRPr lang="en-US" sz="1250" dirty="0"/>
          </a:p>
        </p:txBody>
      </p:sp>
      <p:pic>
        <p:nvPicPr>
          <p:cNvPr id="31" name="Image 0" descr="C:\Users\Rahil Ahmed\Desktop\GIGCB\evidence\m33\rooftop_drift.png">    </p:cNvPr>
          <p:cNvPicPr>
            <a:picLocks noChangeAspect="1"/>
          </p:cNvPicPr>
          <p:nvPr/>
        </p:nvPicPr>
        <p:blipFill>
          <a:blip r:embed="rId1"/>
          <a:stretch>
            <a:fillRect/>
          </a:stretch>
        </p:blipFill>
        <p:spPr>
          <a:xfrm>
            <a:off x="6446520" y="3703320"/>
            <a:ext cx="2331720" cy="2560320"/>
          </a:xfrm>
          <a:prstGeom prst="rect">
            <a:avLst/>
          </a:prstGeom>
        </p:spPr>
      </p:pic>
      <p:pic>
        <p:nvPicPr>
          <p:cNvPr id="32" name="Image 1" descr="C:\Users\Rahil Ahmed\Desktop\GIGCB\evidence\m33\mansion_drift.png">    </p:cNvPr>
          <p:cNvPicPr>
            <a:picLocks noChangeAspect="1"/>
          </p:cNvPicPr>
          <p:nvPr/>
        </p:nvPicPr>
        <p:blipFill>
          <a:blip r:embed="rId2"/>
          <a:stretch>
            <a:fillRect/>
          </a:stretch>
        </p:blipFill>
        <p:spPr>
          <a:xfrm>
            <a:off x="9052560" y="3703320"/>
            <a:ext cx="2331720" cy="2560320"/>
          </a:xfrm>
          <a:prstGeom prst="rect">
            <a:avLst/>
          </a:prstGeom>
        </p:spPr>
      </p:pic>
      <p:sp>
        <p:nvSpPr>
          <p:cNvPr id="33" name="Text 29"/>
          <p:cNvSpPr/>
          <p:nvPr/>
        </p:nvSpPr>
        <p:spPr>
          <a:xfrm>
            <a:off x="6446520" y="3438144"/>
            <a:ext cx="2331720" cy="237744"/>
          </a:xfrm>
          <a:prstGeom prst="rect">
            <a:avLst/>
          </a:prstGeom>
          <a:noFill/>
          <a:ln/>
        </p:spPr>
        <p:txBody>
          <a:bodyPr wrap="square" lIns="0" tIns="0" rIns="0" bIns="0" rtlCol="0" anchor="ctr"/>
          <a:lstStyle/>
          <a:p>
            <a:pPr indent="0" marL="0">
              <a:buNone/>
            </a:pPr>
            <a:r>
              <a:rPr lang="en-US" sz="1100" b="1" dirty="0">
                <a:solidFill>
                  <a:srgbClr val="1A7A52"/>
                </a:solidFill>
                <a:latin typeface="Calibri" pitchFamily="34" charset="0"/>
                <a:ea typeface="Calibri" pitchFamily="34" charset="-122"/>
                <a:cs typeface="Calibri" pitchFamily="34" charset="-120"/>
              </a:rPr>
              <a:t>PASS — ROOFTOP-night</a:t>
            </a:r>
            <a:endParaRPr lang="en-US" sz="1100" dirty="0"/>
          </a:p>
        </p:txBody>
      </p:sp>
      <p:sp>
        <p:nvSpPr>
          <p:cNvPr id="34" name="Text 30"/>
          <p:cNvSpPr/>
          <p:nvPr/>
        </p:nvSpPr>
        <p:spPr>
          <a:xfrm>
            <a:off x="9052560" y="3438144"/>
            <a:ext cx="2377440" cy="237744"/>
          </a:xfrm>
          <a:prstGeom prst="rect">
            <a:avLst/>
          </a:prstGeom>
          <a:noFill/>
          <a:ln/>
        </p:spPr>
        <p:txBody>
          <a:bodyPr wrap="square" lIns="0" tIns="0" rIns="0" bIns="0" rtlCol="0" anchor="ctr"/>
          <a:lstStyle/>
          <a:p>
            <a:pPr indent="0" marL="0">
              <a:buNone/>
            </a:pPr>
            <a:r>
              <a:rPr lang="en-US" sz="1100" b="1" dirty="0">
                <a:solidFill>
                  <a:srgbClr val="A8342A"/>
                </a:solidFill>
                <a:latin typeface="Calibri" pitchFamily="34" charset="0"/>
                <a:ea typeface="Calibri" pitchFamily="34" charset="-122"/>
                <a:cs typeface="Calibri" pitchFamily="34" charset="-120"/>
              </a:rPr>
              <a:t>REJECT — MANSION-marble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REAL RESULTS — SAREE</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Four real generations. Three passed, one rejected.</a:t>
            </a:r>
            <a:endParaRPr lang="en-US" sz="3000" dirty="0"/>
          </a:p>
        </p:txBody>
      </p:sp>
      <p:pic>
        <p:nvPicPr>
          <p:cNvPr id="4" name="Image 0" descr="C:\Users\Rahil Ahmed\Desktop\GIGCB\evidence\m33\saree_all_four.png">    </p:cNvPr>
          <p:cNvPicPr>
            <a:picLocks noChangeAspect="1"/>
          </p:cNvPicPr>
          <p:nvPr/>
        </p:nvPicPr>
        <p:blipFill>
          <a:blip r:embed="rId1"/>
          <a:stretch>
            <a:fillRect/>
          </a:stretch>
        </p:blipFill>
        <p:spPr>
          <a:xfrm>
            <a:off x="566928" y="1371600"/>
            <a:ext cx="5806440" cy="4754880"/>
          </a:xfrm>
          <a:prstGeom prst="rect">
            <a:avLst/>
          </a:prstGeom>
        </p:spPr>
      </p:pic>
      <p:sp>
        <p:nvSpPr>
          <p:cNvPr id="5" name="Text 2"/>
          <p:cNvSpPr/>
          <p:nvPr/>
        </p:nvSpPr>
        <p:spPr>
          <a:xfrm>
            <a:off x="566928" y="6144768"/>
            <a:ext cx="5806440" cy="320040"/>
          </a:xfrm>
          <a:prstGeom prst="rect">
            <a:avLst/>
          </a:prstGeom>
          <a:noFill/>
          <a:ln/>
        </p:spPr>
        <p:txBody>
          <a:bodyPr wrap="square" lIns="0" tIns="0" rIns="0" bIns="0" rtlCol="0" anchor="ctr"/>
          <a:lstStyle/>
          <a:p>
            <a:pPr indent="0" marL="0">
              <a:buNone/>
            </a:pPr>
            <a:r>
              <a:rPr lang="en-US" sz="1050" dirty="0">
                <a:solidFill>
                  <a:srgbClr val="6A7B87"/>
                </a:solidFill>
                <a:latin typeface="Calibri" pitchFamily="34" charset="0"/>
                <a:ea typeface="Calibri" pitchFamily="34" charset="-122"/>
                <a:cs typeface="Calibri" pitchFamily="34" charset="-120"/>
              </a:rPr>
              <a:t>Per-frame fidelity for all four clips against the calibrated pass mark of 51.0. Garment occupancy underneath.</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75120" y="1417320"/>
          <a:ext cx="4937760" cy="914400"/>
        </p:xfrm>
        <a:graphic>
          <a:graphicData uri="http://schemas.openxmlformats.org/drawingml/2006/table">
            <a:tbl>
              <a:tblPr/>
              <a:tblGrid>
                <a:gridCol w="2057400"/>
                <a:gridCol w="914400"/>
                <a:gridCol w="914400"/>
                <a:gridCol w="1051560"/>
              </a:tblGrid>
              <a:tr h="329184">
                <a:tc>
                  <a:txBody>
                    <a:bodyPr/>
                    <a:lstStyle/>
                    <a:p>
                      <a:pPr algn="l" indent="0" marL="0">
                        <a:buNone/>
                      </a:pPr>
                      <a:r>
                        <a:rPr lang="en-US" sz="1050" b="1" dirty="0">
                          <a:solidFill>
                            <a:srgbClr val="6A7B87"/>
                          </a:solidFill>
                          <a:latin typeface="Calibri" pitchFamily="34" charset="0"/>
                          <a:ea typeface="Calibri" pitchFamily="34" charset="-122"/>
                          <a:cs typeface="Calibri" pitchFamily="34" charset="-120"/>
                        </a:rPr>
                        <a:t>Video</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6A7B87"/>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6A7B87"/>
                          </a:solidFill>
                          <a:latin typeface="Calibri" pitchFamily="34" charset="0"/>
                          <a:ea typeface="Calibri" pitchFamily="34" charset="-122"/>
                          <a:cs typeface="Calibri" pitchFamily="34" charset="-120"/>
                        </a:rPr>
                        <a:t>Min</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6A7B87"/>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31A1F"/>
                          </a:solidFill>
                          <a:latin typeface="Calibri" pitchFamily="34" charset="0"/>
                          <a:ea typeface="Calibri" pitchFamily="34" charset="-122"/>
                          <a:cs typeface="Calibri" pitchFamily="34" charset="-120"/>
                        </a:rPr>
                        <a:t>ROOFTOP-night</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75.57</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71.28</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A7A52"/>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31A1F"/>
                          </a:solidFill>
                          <a:latin typeface="Calibri" pitchFamily="34" charset="0"/>
                          <a:ea typeface="Calibri" pitchFamily="34" charset="-122"/>
                          <a:cs typeface="Calibri" pitchFamily="34" charset="-120"/>
                        </a:rPr>
                        <a:t>MANDAP-dusk</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71.77</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65.09</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A7A52"/>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31A1F"/>
                          </a:solidFill>
                          <a:latin typeface="Calibri" pitchFamily="34" charset="0"/>
                          <a:ea typeface="Calibri" pitchFamily="34" charset="-122"/>
                          <a:cs typeface="Calibri" pitchFamily="34" charset="-120"/>
                        </a:rPr>
                        <a:t>BASELINE-courtyard</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71.23</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31A1F"/>
                          </a:solidFill>
                          <a:latin typeface="Calibri" pitchFamily="34" charset="0"/>
                          <a:ea typeface="Calibri" pitchFamily="34" charset="-122"/>
                          <a:cs typeface="Calibri" pitchFamily="34" charset="-120"/>
                        </a:rPr>
                        <a:t>61.06</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A7A52"/>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A8342A"/>
                          </a:solidFill>
                          <a:latin typeface="Calibri" pitchFamily="34" charset="0"/>
                          <a:ea typeface="Calibri" pitchFamily="34" charset="-122"/>
                          <a:cs typeface="Calibri" pitchFamily="34" charset="-120"/>
                        </a:rPr>
                        <a:t>MANSION-marble</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250" dirty="0">
                          <a:solidFill>
                            <a:srgbClr val="A8342A"/>
                          </a:solidFill>
                          <a:latin typeface="Calibri" pitchFamily="34" charset="0"/>
                          <a:ea typeface="Calibri" pitchFamily="34" charset="-122"/>
                          <a:cs typeface="Calibri" pitchFamily="34" charset="-120"/>
                        </a:rPr>
                        <a:t>44.89</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250" dirty="0">
                          <a:solidFill>
                            <a:srgbClr val="A8342A"/>
                          </a:solidFill>
                          <a:latin typeface="Calibri" pitchFamily="34" charset="0"/>
                          <a:ea typeface="Calibri" pitchFamily="34" charset="-122"/>
                          <a:cs typeface="Calibri" pitchFamily="34" charset="-120"/>
                        </a:rPr>
                        <a:t>37.87</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250" b="1" dirty="0">
                          <a:solidFill>
                            <a:srgbClr val="A8342A"/>
                          </a:solidFill>
                          <a:latin typeface="Calibri" pitchFamily="34" charset="0"/>
                          <a:ea typeface="Calibri" pitchFamily="34" charset="-122"/>
                          <a:cs typeface="Calibri" pitchFamily="34" charset="-120"/>
                        </a:rPr>
                        <a:t>REJECT</a:t>
                      </a:r>
                      <a:endParaRPr lang="en-US" sz="12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r>
            </a:tbl>
          </a:graphicData>
        </a:graphic>
      </p:graphicFrame>
      <p:sp>
        <p:nvSpPr>
          <p:cNvPr id="7" name="Text 3"/>
          <p:cNvSpPr/>
          <p:nvPr/>
        </p:nvSpPr>
        <p:spPr>
          <a:xfrm>
            <a:off x="6675120" y="3200400"/>
            <a:ext cx="4937760" cy="274320"/>
          </a:xfrm>
          <a:prstGeom prst="rect">
            <a:avLst/>
          </a:prstGeom>
          <a:noFill/>
          <a:ln/>
        </p:spPr>
        <p:txBody>
          <a:bodyPr wrap="square" lIns="0" tIns="0" rIns="0" bIns="0" rtlCol="0" anchor="ctr"/>
          <a:lstStyle/>
          <a:p>
            <a:pPr indent="0" marL="0">
              <a:buNone/>
            </a:pPr>
            <a:r>
              <a:rPr lang="en-US" sz="1100" i="1" dirty="0">
                <a:solidFill>
                  <a:srgbClr val="6A7B87"/>
                </a:solidFill>
                <a:latin typeface="Calibri" pitchFamily="34" charset="0"/>
                <a:ea typeface="Calibri" pitchFamily="34" charset="-122"/>
                <a:cs typeface="Calibri" pitchFamily="34" charset="-120"/>
              </a:rPr>
              <a:t>Pass mark 51.0, calibrated on this product</a:t>
            </a:r>
            <a:endParaRPr lang="en-US" sz="1100" dirty="0"/>
          </a:p>
        </p:txBody>
      </p:sp>
      <p:sp>
        <p:nvSpPr>
          <p:cNvPr id="8" name="Shape 4"/>
          <p:cNvSpPr/>
          <p:nvPr/>
        </p:nvSpPr>
        <p:spPr>
          <a:xfrm>
            <a:off x="6675120" y="3547872"/>
            <a:ext cx="4937760" cy="2788920"/>
          </a:xfrm>
          <a:prstGeom prst="roundRect">
            <a:avLst>
              <a:gd name="adj" fmla="val 1967"/>
            </a:avLst>
          </a:prstGeom>
          <a:solidFill>
            <a:srgbClr val="FCEFED"/>
          </a:solidFill>
          <a:ln w="12700">
            <a:solidFill>
              <a:srgbClr val="F0CDC8"/>
            </a:solidFill>
            <a:prstDash val="solid"/>
          </a:ln>
        </p:spPr>
      </p:sp>
      <p:sp>
        <p:nvSpPr>
          <p:cNvPr id="9" name="Text 5"/>
          <p:cNvSpPr/>
          <p:nvPr/>
        </p:nvSpPr>
        <p:spPr>
          <a:xfrm>
            <a:off x="6931152" y="3712464"/>
            <a:ext cx="4480560" cy="320040"/>
          </a:xfrm>
          <a:prstGeom prst="rect">
            <a:avLst/>
          </a:prstGeom>
          <a:noFill/>
          <a:ln/>
        </p:spPr>
        <p:txBody>
          <a:bodyPr wrap="square" lIns="0" tIns="0" rIns="0" bIns="0" rtlCol="0" anchor="ctr"/>
          <a:lstStyle/>
          <a:p>
            <a:pPr indent="0" marL="0">
              <a:buNone/>
            </a:pPr>
            <a:r>
              <a:rPr lang="en-US" sz="1600" b="1" dirty="0">
                <a:solidFill>
                  <a:srgbClr val="7D1F18"/>
                </a:solidFill>
                <a:latin typeface="Cambria" pitchFamily="34" charset="0"/>
                <a:ea typeface="Cambria" pitchFamily="34" charset="-122"/>
                <a:cs typeface="Cambria" pitchFamily="34" charset="-120"/>
              </a:rPr>
              <a:t>Why MANSION-marble was rejected</a:t>
            </a:r>
            <a:endParaRPr lang="en-US" sz="1600" dirty="0"/>
          </a:p>
        </p:txBody>
      </p:sp>
      <p:sp>
        <p:nvSpPr>
          <p:cNvPr id="10" name="Text 6"/>
          <p:cNvSpPr/>
          <p:nvPr/>
        </p:nvSpPr>
        <p:spPr>
          <a:xfrm>
            <a:off x="6931152" y="4078224"/>
            <a:ext cx="4434840" cy="155448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100" dirty="0">
                <a:solidFill>
                  <a:srgbClr val="2B3A44"/>
                </a:solidFill>
                <a:latin typeface="Calibri" pitchFamily="34" charset="0"/>
                <a:ea typeface="Calibri" pitchFamily="34" charset="-122"/>
                <a:cs typeface="Calibri" pitchFamily="34" charset="-120"/>
              </a:rPr>
              <a:t>Fidelity 44.89 vs a 51.0 pass mark — below it for the whole clip</a:t>
            </a:r>
            <a:endParaRPr lang="en-US" sz="1100" dirty="0"/>
          </a:p>
          <a:p>
            <a:pPr marL="342900" indent="-342900">
              <a:lnSpc>
                <a:spcPts val="2000"/>
              </a:lnSpc>
              <a:spcAft>
                <a:spcPts val="700"/>
              </a:spcAft>
              <a:buSzPct val="100000"/>
              <a:buChar char="•"/>
            </a:pPr>
            <a:r>
              <a:rPr lang="en-US" sz="1100" dirty="0">
                <a:solidFill>
                  <a:srgbClr val="2B3A44"/>
                </a:solidFill>
                <a:latin typeface="Calibri" pitchFamily="34" charset="0"/>
                <a:ea typeface="Calibri" pitchFamily="34" charset="-122"/>
                <a:cs typeface="Calibri" pitchFamily="34" charset="-120"/>
              </a:rPr>
              <a:t>Motion spike 0.268 vs a 0.25 limit — a hard cut in the first 0.13 s</a:t>
            </a:r>
            <a:endParaRPr lang="en-US" sz="1100" dirty="0"/>
          </a:p>
          <a:p>
            <a:pPr marL="342900" indent="-342900">
              <a:lnSpc>
                <a:spcPts val="2000"/>
              </a:lnSpc>
              <a:spcAft>
                <a:spcPts val="700"/>
              </a:spcAft>
              <a:buSzPct val="100000"/>
              <a:buChar char="•"/>
            </a:pPr>
            <a:r>
              <a:rPr lang="en-US" sz="1100" dirty="0">
                <a:solidFill>
                  <a:srgbClr val="2B3A44"/>
                </a:solidFill>
                <a:latin typeface="Calibri" pitchFamily="34" charset="0"/>
                <a:ea typeface="Calibri" pitchFamily="34" charset="-122"/>
                <a:cs typeface="Calibri" pitchFamily="34" charset="-120"/>
              </a:rPr>
              <a:t>Garment occupancy collapsed from 38% of frame to 3–9%</a:t>
            </a:r>
            <a:endParaRPr lang="en-US" sz="1100" dirty="0"/>
          </a:p>
        </p:txBody>
      </p:sp>
      <p:sp>
        <p:nvSpPr>
          <p:cNvPr id="11" name="Text 7"/>
          <p:cNvSpPr/>
          <p:nvPr/>
        </p:nvSpPr>
        <p:spPr>
          <a:xfrm>
            <a:off x="6931152" y="5468112"/>
            <a:ext cx="4434840" cy="777240"/>
          </a:xfrm>
          <a:prstGeom prst="rect">
            <a:avLst/>
          </a:prstGeom>
          <a:noFill/>
          <a:ln/>
        </p:spPr>
        <p:txBody>
          <a:bodyPr wrap="square" lIns="0" tIns="0" rIns="0" bIns="0" rtlCol="0" anchor="ctr"/>
          <a:lstStyle/>
          <a:p>
            <a:pPr indent="0" marL="0">
              <a:lnSpc>
                <a:spcPts val="1300"/>
              </a:lnSpc>
              <a:buNone/>
            </a:pPr>
            <a:r>
              <a:rPr lang="en-US" sz="1050" b="1" dirty="0">
                <a:solidFill>
                  <a:srgbClr val="7D1F18"/>
                </a:solidFill>
                <a:latin typeface="Calibri" pitchFamily="34" charset="0"/>
                <a:ea typeface="Calibri" pitchFamily="34" charset="-122"/>
                <a:cs typeface="Calibri" pitchFamily="34" charset="-120"/>
              </a:rPr>
              <a:t>Not primarily a dye failure. ΔE2000 reads 8.98, but with the garment at a few percent of frame that is not evidence of a dye change — frame inspection confirms the saree is still teal.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EVIDENCE — MANSION-MARBLE</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The rejection, frame by frame</a:t>
            </a:r>
            <a:endParaRPr lang="en-US" sz="3000" dirty="0"/>
          </a:p>
        </p:txBody>
      </p:sp>
      <p:pic>
        <p:nvPicPr>
          <p:cNvPr id="4" name="Image 0" descr="C:\Users\Rahil Ahmed\Desktop\GIGCB\evidence\m33\mansion_diag.png">    </p:cNvPr>
          <p:cNvPicPr>
            <a:picLocks noChangeAspect="1"/>
          </p:cNvPicPr>
          <p:nvPr/>
        </p:nvPicPr>
        <p:blipFill>
          <a:blip r:embed="rId1"/>
          <a:stretch>
            <a:fillRect/>
          </a:stretch>
        </p:blipFill>
        <p:spPr>
          <a:xfrm>
            <a:off x="566928" y="1371600"/>
            <a:ext cx="11027664" cy="3355848"/>
          </a:xfrm>
          <a:prstGeom prst="rect">
            <a:avLst/>
          </a:prstGeom>
        </p:spPr>
      </p:pic>
      <p:sp>
        <p:nvSpPr>
          <p:cNvPr id="5" name="Text 2"/>
          <p:cNvSpPr/>
          <p:nvPr/>
        </p:nvSpPr>
        <p:spPr>
          <a:xfrm>
            <a:off x="566928" y="4828032"/>
            <a:ext cx="11027664" cy="365760"/>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Frame 0 is a near-copy of the reference (38% of frame). After a hard cut the model is tiny in a marble hall for the remaining five seconds. The mask (pink) tracks correctly — the product really is that small.</a:t>
            </a:r>
            <a:endParaRPr lang="en-US" sz="1150" dirty="0"/>
          </a:p>
        </p:txBody>
      </p:sp>
      <p:sp>
        <p:nvSpPr>
          <p:cNvPr id="6" name="Text 3"/>
          <p:cNvSpPr/>
          <p:nvPr/>
        </p:nvSpPr>
        <p:spPr>
          <a:xfrm>
            <a:off x="566928" y="5349240"/>
            <a:ext cx="210312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44.89</a:t>
            </a:r>
            <a:endParaRPr lang="en-US" sz="3400" dirty="0"/>
          </a:p>
        </p:txBody>
      </p:sp>
      <p:sp>
        <p:nvSpPr>
          <p:cNvPr id="7" name="Text 4"/>
          <p:cNvSpPr/>
          <p:nvPr/>
        </p:nvSpPr>
        <p:spPr>
          <a:xfrm>
            <a:off x="566928" y="586130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fidelity mean vs 51.0 mark</a:t>
            </a:r>
            <a:endParaRPr lang="en-US" sz="1150" dirty="0"/>
          </a:p>
        </p:txBody>
      </p:sp>
      <p:sp>
        <p:nvSpPr>
          <p:cNvPr id="8" name="Text 5"/>
          <p:cNvSpPr/>
          <p:nvPr/>
        </p:nvSpPr>
        <p:spPr>
          <a:xfrm>
            <a:off x="2944368" y="5349240"/>
            <a:ext cx="210312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37.87</a:t>
            </a:r>
            <a:endParaRPr lang="en-US" sz="3400" dirty="0"/>
          </a:p>
        </p:txBody>
      </p:sp>
      <p:sp>
        <p:nvSpPr>
          <p:cNvPr id="9" name="Text 6"/>
          <p:cNvSpPr/>
          <p:nvPr/>
        </p:nvSpPr>
        <p:spPr>
          <a:xfrm>
            <a:off x="2944368" y="586130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worst frame, at t = 0.17 s</a:t>
            </a:r>
            <a:endParaRPr lang="en-US" sz="1150" dirty="0"/>
          </a:p>
        </p:txBody>
      </p:sp>
      <p:sp>
        <p:nvSpPr>
          <p:cNvPr id="10" name="Text 7"/>
          <p:cNvSpPr/>
          <p:nvPr/>
        </p:nvSpPr>
        <p:spPr>
          <a:xfrm>
            <a:off x="5321808" y="5349240"/>
            <a:ext cx="210312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0.268</a:t>
            </a:r>
            <a:endParaRPr lang="en-US" sz="3400" dirty="0"/>
          </a:p>
        </p:txBody>
      </p:sp>
      <p:sp>
        <p:nvSpPr>
          <p:cNvPr id="11" name="Text 8"/>
          <p:cNvSpPr/>
          <p:nvPr/>
        </p:nvSpPr>
        <p:spPr>
          <a:xfrm>
            <a:off x="5321808" y="586130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motion spike vs 0.25 limit</a:t>
            </a:r>
            <a:endParaRPr lang="en-US" sz="1150" dirty="0"/>
          </a:p>
        </p:txBody>
      </p:sp>
      <p:sp>
        <p:nvSpPr>
          <p:cNvPr id="12" name="Text 9"/>
          <p:cNvSpPr/>
          <p:nvPr/>
        </p:nvSpPr>
        <p:spPr>
          <a:xfrm>
            <a:off x="7699248" y="5349240"/>
            <a:ext cx="210312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38% → 3%</a:t>
            </a:r>
            <a:endParaRPr lang="en-US" sz="3400" dirty="0"/>
          </a:p>
        </p:txBody>
      </p:sp>
      <p:sp>
        <p:nvSpPr>
          <p:cNvPr id="13" name="Text 10"/>
          <p:cNvSpPr/>
          <p:nvPr/>
        </p:nvSpPr>
        <p:spPr>
          <a:xfrm>
            <a:off x="7699248" y="586130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garment occupancy collapse</a:t>
            </a:r>
            <a:endParaRPr lang="en-US" sz="1150" dirty="0"/>
          </a:p>
        </p:txBody>
      </p:sp>
      <p:sp>
        <p:nvSpPr>
          <p:cNvPr id="14" name="Text 11"/>
          <p:cNvSpPr/>
          <p:nvPr/>
        </p:nvSpPr>
        <p:spPr>
          <a:xfrm>
            <a:off x="10076688" y="5376672"/>
            <a:ext cx="2011680" cy="822960"/>
          </a:xfrm>
          <a:prstGeom prst="rect">
            <a:avLst/>
          </a:prstGeom>
          <a:noFill/>
          <a:ln/>
        </p:spPr>
        <p:txBody>
          <a:bodyPr wrap="square" lIns="0" tIns="0" rIns="0" bIns="0" rtlCol="0" anchor="ctr"/>
          <a:lstStyle/>
          <a:p>
            <a:pPr indent="0" marL="0">
              <a:lnSpc>
                <a:spcPts val="1800"/>
              </a:lnSpc>
              <a:buNone/>
            </a:pPr>
            <a:r>
              <a:rPr lang="en-US" sz="1400" b="1" dirty="0">
                <a:solidFill>
                  <a:srgbClr val="131A1F"/>
                </a:solidFill>
                <a:latin typeface="Cambria" pitchFamily="34" charset="0"/>
                <a:ea typeface="Cambria" pitchFamily="34" charset="-122"/>
                <a:cs typeface="Cambria" pitchFamily="34" charset="-120"/>
              </a:rPr>
              <a:t>Rejected on two</a:t>
            </a:r>
            <a:endParaRPr lang="en-US" sz="1400" dirty="0"/>
          </a:p>
          <a:p>
            <a:pPr indent="0" marL="0">
              <a:lnSpc>
                <a:spcPts val="1800"/>
              </a:lnSpc>
              <a:buNone/>
            </a:pPr>
            <a:r>
              <a:rPr lang="en-US" sz="1400" b="1" dirty="0">
                <a:solidFill>
                  <a:srgbClr val="131A1F"/>
                </a:solidFill>
                <a:latin typeface="Cambria" pitchFamily="34" charset="0"/>
                <a:ea typeface="Cambria" pitchFamily="34" charset="-122"/>
                <a:cs typeface="Cambria" pitchFamily="34" charset="-120"/>
              </a:rPr>
              <a:t>independent grounds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GATE 2 — DIVERSITY ENGINE</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Being different is not the same as being usable</a:t>
            </a:r>
            <a:endParaRPr lang="en-US" sz="3000" dirty="0"/>
          </a:p>
        </p:txBody>
      </p:sp>
      <p:sp>
        <p:nvSpPr>
          <p:cNvPr id="4" name="Text 2"/>
          <p:cNvSpPr/>
          <p:nvPr/>
        </p:nvSpPr>
        <p:spPr>
          <a:xfrm>
            <a:off x="566928" y="1417320"/>
            <a:ext cx="6492240" cy="640080"/>
          </a:xfrm>
          <a:prstGeom prst="rect">
            <a:avLst/>
          </a:prstGeom>
          <a:noFill/>
          <a:ln/>
        </p:spPr>
        <p:txBody>
          <a:bodyPr wrap="square" lIns="0" tIns="0" rIns="0" bIns="0" rtlCol="0" anchor="ctr"/>
          <a:lstStyle/>
          <a:p>
            <a:pPr indent="0" marL="0">
              <a:lnSpc>
                <a:spcPts val="1900"/>
              </a:lnSpc>
              <a:buNone/>
            </a:pPr>
            <a:r>
              <a:rPr lang="en-US" sz="1350" dirty="0">
                <a:solidFill>
                  <a:srgbClr val="6A7B87"/>
                </a:solidFill>
                <a:latin typeface="Calibri" pitchFamily="34" charset="0"/>
                <a:ea typeface="Calibri" pitchFamily="34" charset="-122"/>
                <a:cs typeface="Calibri" pitchFamily="34" charset="-120"/>
              </a:rPr>
              <a:t>Two structurally different briefs can still render similarly, so diversity is measured on the result. Each video becomes one CLIP embedding averaged over sampled frames; pairwise cosine distance decides.</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6492240" cy="914400"/>
        </p:xfrm>
        <a:graphic>
          <a:graphicData uri="http://schemas.openxmlformats.org/drawingml/2006/table">
            <a:tbl>
              <a:tblPr/>
              <a:tblGrid>
                <a:gridCol w="2103120"/>
                <a:gridCol w="1097280"/>
                <a:gridCol w="1097280"/>
                <a:gridCol w="1097280"/>
                <a:gridCol w="1097280"/>
              </a:tblGrid>
              <a:tr h="310896">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31A1F"/>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31A1F"/>
                          </a:solidFill>
                          <a:latin typeface="Calibri" pitchFamily="34" charset="0"/>
                          <a:ea typeface="Calibri" pitchFamily="34" charset="-122"/>
                          <a:cs typeface="Calibri" pitchFamily="34" charset="-120"/>
                        </a:rPr>
                        <a:t>MANDAP</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31A1F"/>
                          </a:solidFill>
                          <a:latin typeface="Calibri" pitchFamily="34" charset="0"/>
                          <a:ea typeface="Calibri" pitchFamily="34" charset="-122"/>
                          <a:cs typeface="Calibri" pitchFamily="34" charset="-120"/>
                        </a:rPr>
                        <a:t>MANSION</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31A1F"/>
                          </a:solidFill>
                          <a:latin typeface="Calibri" pitchFamily="34" charset="0"/>
                          <a:ea typeface="Calibri" pitchFamily="34" charset="-122"/>
                          <a:cs typeface="Calibri" pitchFamily="34" charset="-120"/>
                        </a:rPr>
                        <a:t>ROOFTOP</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131A1F"/>
                          </a:solidFill>
                          <a:latin typeface="Calibri" pitchFamily="34" charset="0"/>
                          <a:ea typeface="Calibri" pitchFamily="34" charset="-122"/>
                          <a:cs typeface="Calibri" pitchFamily="34" charset="-120"/>
                        </a:rPr>
                        <a:t>BASELINE-courtyard</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0.1147</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0.1999</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0.0931</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131A1F"/>
                          </a:solidFill>
                          <a:latin typeface="Calibri" pitchFamily="34" charset="0"/>
                          <a:ea typeface="Calibri" pitchFamily="34" charset="-122"/>
                          <a:cs typeface="Calibri" pitchFamily="34" charset="-120"/>
                        </a:rPr>
                        <a:t>MANDAP-dusk</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0.1147</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0.1412</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0.1213</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131A1F"/>
                          </a:solidFill>
                          <a:latin typeface="Calibri" pitchFamily="34" charset="0"/>
                          <a:ea typeface="Calibri" pitchFamily="34" charset="-122"/>
                          <a:cs typeface="Calibri" pitchFamily="34" charset="-120"/>
                        </a:rPr>
                        <a:t>MANSION-marble</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0.1999</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0.1412</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0.1961</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r>
              <a:tr h="310896">
                <a:tc>
                  <a:txBody>
                    <a:bodyPr/>
                    <a:lstStyle/>
                    <a:p>
                      <a:pPr algn="l" indent="0" marL="0">
                        <a:buNone/>
                      </a:pPr>
                      <a:r>
                        <a:rPr lang="en-US" sz="1050" b="1" dirty="0">
                          <a:solidFill>
                            <a:srgbClr val="131A1F"/>
                          </a:solidFill>
                          <a:latin typeface="Calibri" pitchFamily="34" charset="0"/>
                          <a:ea typeface="Calibri" pitchFamily="34" charset="-122"/>
                          <a:cs typeface="Calibri" pitchFamily="34" charset="-120"/>
                        </a:rPr>
                        <a:t>ROOFTOP-night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0.0931</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0.1213</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0.1961</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CEFED"/>
                    </a:solidFill>
                  </a:tcPr>
                </a:tc>
                <a:tc>
                  <a:txBody>
                    <a:bodyPr/>
                    <a:lstStyle/>
                    <a:p>
                      <a:pPr algn="r" indent="0" marL="0">
                        <a:buNone/>
                      </a:pPr>
                      <a:r>
                        <a:rPr lang="en-US" sz="1050" dirty="0">
                          <a:solidFill>
                            <a:srgbClr val="2B3A4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1E6E9"/>
                      </a:solidFill>
                      <a:prstDash val="solid"/>
                      <a:round/>
                      <a:headEnd type="none" w="med" len="med"/>
                      <a:tailEnd type="none" w="med" len="med"/>
                    </a:lnL>
                    <a:lnR w="6350" cap="flat" cmpd="sng" algn="ctr">
                      <a:solidFill>
                        <a:srgbClr val="E1E6E9"/>
                      </a:solidFill>
                      <a:prstDash val="solid"/>
                      <a:round/>
                      <a:headEnd type="none" w="med" len="med"/>
                      <a:tailEnd type="none" w="med" len="med"/>
                    </a:lnR>
                    <a:lnT w="6350" cap="flat" cmpd="sng" algn="ctr">
                      <a:solidFill>
                        <a:srgbClr val="E1E6E9"/>
                      </a:solidFill>
                      <a:prstDash val="solid"/>
                      <a:round/>
                      <a:headEnd type="none" w="med" len="med"/>
                      <a:tailEnd type="none" w="med" len="med"/>
                    </a:lnT>
                    <a:lnB w="6350" cap="flat" cmpd="sng" algn="ctr">
                      <a:solidFill>
                        <a:srgbClr val="E1E6E9"/>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4114800"/>
            <a:ext cx="210312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14.44</a:t>
            </a:r>
            <a:endParaRPr lang="en-US" sz="3400" dirty="0"/>
          </a:p>
        </p:txBody>
      </p:sp>
      <p:sp>
        <p:nvSpPr>
          <p:cNvPr id="7" name="Text 4"/>
          <p:cNvSpPr/>
          <p:nvPr/>
        </p:nvSpPr>
        <p:spPr>
          <a:xfrm>
            <a:off x="566928" y="462686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diversity, all four videos</a:t>
            </a:r>
            <a:endParaRPr lang="en-US" sz="1150" dirty="0"/>
          </a:p>
        </p:txBody>
      </p:sp>
      <p:sp>
        <p:nvSpPr>
          <p:cNvPr id="8" name="Text 5"/>
          <p:cNvSpPr/>
          <p:nvPr/>
        </p:nvSpPr>
        <p:spPr>
          <a:xfrm>
            <a:off x="2852928" y="4114800"/>
            <a:ext cx="210312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10.97</a:t>
            </a:r>
            <a:endParaRPr lang="en-US" sz="3400" dirty="0"/>
          </a:p>
        </p:txBody>
      </p:sp>
      <p:sp>
        <p:nvSpPr>
          <p:cNvPr id="9" name="Text 6"/>
          <p:cNvSpPr/>
          <p:nvPr/>
        </p:nvSpPr>
        <p:spPr>
          <a:xfrm>
            <a:off x="2852928" y="462686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diversity, passing set</a:t>
            </a:r>
            <a:endParaRPr lang="en-US" sz="1150" dirty="0"/>
          </a:p>
        </p:txBody>
      </p:sp>
      <p:sp>
        <p:nvSpPr>
          <p:cNvPr id="10" name="Text 7"/>
          <p:cNvSpPr/>
          <p:nvPr/>
        </p:nvSpPr>
        <p:spPr>
          <a:xfrm>
            <a:off x="5138928" y="4114800"/>
            <a:ext cx="1920240" cy="530352"/>
          </a:xfrm>
          <a:prstGeom prst="rect">
            <a:avLst/>
          </a:prstGeom>
          <a:noFill/>
          <a:ln/>
        </p:spPr>
        <p:txBody>
          <a:bodyPr wrap="square" lIns="0" tIns="0" rIns="0" bIns="0" rtlCol="0" anchor="ctr"/>
          <a:lstStyle/>
          <a:p>
            <a:pPr indent="0" marL="0">
              <a:buNone/>
            </a:pPr>
            <a:r>
              <a:rPr lang="en-US" sz="3400" b="1" dirty="0">
                <a:solidFill>
                  <a:srgbClr val="6A7B87"/>
                </a:solidFill>
                <a:latin typeface="Cambria" pitchFamily="34" charset="0"/>
                <a:ea typeface="Cambria" pitchFamily="34" charset="-122"/>
                <a:cs typeface="Cambria" pitchFamily="34" charset="-120"/>
              </a:rPr>
              <a:t>+0.00</a:t>
            </a:r>
            <a:endParaRPr lang="en-US" sz="3400" dirty="0"/>
          </a:p>
        </p:txBody>
      </p:sp>
      <p:sp>
        <p:nvSpPr>
          <p:cNvPr id="11" name="Text 8"/>
          <p:cNvSpPr/>
          <p:nvPr/>
        </p:nvSpPr>
        <p:spPr>
          <a:xfrm>
            <a:off x="5138928" y="4626864"/>
            <a:ext cx="192024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gain — nothing was dropped</a:t>
            </a:r>
            <a:endParaRPr lang="en-US" sz="1150" dirty="0"/>
          </a:p>
        </p:txBody>
      </p:sp>
      <p:sp>
        <p:nvSpPr>
          <p:cNvPr id="12" name="Text 9"/>
          <p:cNvSpPr/>
          <p:nvPr/>
        </p:nvSpPr>
        <p:spPr>
          <a:xfrm>
            <a:off x="566928" y="5074920"/>
            <a:ext cx="6492240" cy="640080"/>
          </a:xfrm>
          <a:prstGeom prst="rect">
            <a:avLst/>
          </a:prstGeom>
          <a:noFill/>
          <a:ln/>
        </p:spPr>
        <p:txBody>
          <a:bodyPr wrap="square" lIns="0" tIns="0" rIns="0" bIns="0" rtlCol="0" anchor="ctr"/>
          <a:lstStyle/>
          <a:p>
            <a:pPr indent="0" marL="0">
              <a:lnSpc>
                <a:spcPts val="1500"/>
              </a:lnSpc>
              <a:buNone/>
            </a:pPr>
            <a:r>
              <a:rPr lang="en-US" sz="1150" i="1" dirty="0">
                <a:solidFill>
                  <a:srgbClr val="6A7B87"/>
                </a:solidFill>
                <a:latin typeface="Calibri" pitchFamily="34" charset="0"/>
                <a:ea typeface="Calibri" pitchFamily="34" charset="-122"/>
                <a:cs typeface="Calibri" pitchFamily="34" charset="-120"/>
              </a:rPr>
              <a:t>Selection had nothing to remove: three videos passed Gate 1 against a request for six. The distances are real measurements; the filtering step was simply not exercised.</a:t>
            </a:r>
            <a:endParaRPr lang="en-US" sz="1150" dirty="0"/>
          </a:p>
        </p:txBody>
      </p:sp>
      <p:sp>
        <p:nvSpPr>
          <p:cNvPr id="13" name="Shape 10"/>
          <p:cNvSpPr/>
          <p:nvPr/>
        </p:nvSpPr>
        <p:spPr>
          <a:xfrm>
            <a:off x="7452360" y="1417320"/>
            <a:ext cx="4206240" cy="4480560"/>
          </a:xfrm>
          <a:prstGeom prst="roundRect">
            <a:avLst>
              <a:gd name="adj" fmla="val 1304"/>
            </a:avLst>
          </a:prstGeom>
          <a:solidFill>
            <a:srgbClr val="131A1F"/>
          </a:solidFill>
          <a:ln w="12700">
            <a:solidFill>
              <a:srgbClr val="131A1F"/>
            </a:solidFill>
            <a:prstDash val="solid"/>
          </a:ln>
        </p:spPr>
      </p:sp>
      <p:sp>
        <p:nvSpPr>
          <p:cNvPr id="14" name="Text 11"/>
          <p:cNvSpPr/>
          <p:nvPr/>
        </p:nvSpPr>
        <p:spPr>
          <a:xfrm>
            <a:off x="7726680" y="1645920"/>
            <a:ext cx="3657600" cy="594360"/>
          </a:xfrm>
          <a:prstGeom prst="rect">
            <a:avLst/>
          </a:prstGeom>
          <a:noFill/>
          <a:ln/>
        </p:spPr>
        <p:txBody>
          <a:bodyPr wrap="square" lIns="0" tIns="0" rIns="0" bIns="0" rtlCol="0" anchor="ctr"/>
          <a:lstStyle/>
          <a:p>
            <a:pPr indent="0" marL="0">
              <a:lnSpc>
                <a:spcPts val="2400"/>
              </a:lnSpc>
              <a:buNone/>
            </a:pPr>
            <a:r>
              <a:rPr lang="en-US" sz="1900" b="1" dirty="0">
                <a:solidFill>
                  <a:srgbClr val="FFFFFF"/>
                </a:solidFill>
                <a:latin typeface="Cambria" pitchFamily="34" charset="0"/>
                <a:ea typeface="Cambria" pitchFamily="34" charset="-122"/>
                <a:cs typeface="Cambria" pitchFamily="34" charset="-120"/>
              </a:rPr>
              <a:t>The result that justifies two gates</a:t>
            </a:r>
            <a:endParaRPr lang="en-US" sz="1900" dirty="0"/>
          </a:p>
        </p:txBody>
      </p:sp>
      <p:sp>
        <p:nvSpPr>
          <p:cNvPr id="15" name="Text 12"/>
          <p:cNvSpPr/>
          <p:nvPr/>
        </p:nvSpPr>
        <p:spPr>
          <a:xfrm>
            <a:off x="7726680" y="2395728"/>
            <a:ext cx="3657600" cy="640080"/>
          </a:xfrm>
          <a:prstGeom prst="rect">
            <a:avLst/>
          </a:prstGeom>
          <a:noFill/>
          <a:ln/>
        </p:spPr>
        <p:txBody>
          <a:bodyPr wrap="square" lIns="0" tIns="0" rIns="0" bIns="0" rtlCol="0" anchor="ctr"/>
          <a:lstStyle/>
          <a:p>
            <a:pPr indent="0" marL="0">
              <a:buNone/>
            </a:pPr>
            <a:r>
              <a:rPr lang="en-US" sz="4000" b="1" dirty="0">
                <a:solidFill>
                  <a:srgbClr val="7FC3CE"/>
                </a:solidFill>
                <a:latin typeface="Cambria" pitchFamily="34" charset="0"/>
                <a:ea typeface="Cambria" pitchFamily="34" charset="-122"/>
                <a:cs typeface="Cambria" pitchFamily="34" charset="-120"/>
              </a:rPr>
              <a:t>0.1999</a:t>
            </a:r>
            <a:endParaRPr lang="en-US" sz="4000" dirty="0"/>
          </a:p>
        </p:txBody>
      </p:sp>
      <p:sp>
        <p:nvSpPr>
          <p:cNvPr id="16" name="Text 13"/>
          <p:cNvSpPr/>
          <p:nvPr/>
        </p:nvSpPr>
        <p:spPr>
          <a:xfrm>
            <a:off x="7726680" y="3017520"/>
            <a:ext cx="3657600" cy="502920"/>
          </a:xfrm>
          <a:prstGeom prst="rect">
            <a:avLst/>
          </a:prstGeom>
          <a:noFill/>
          <a:ln/>
        </p:spPr>
        <p:txBody>
          <a:bodyPr wrap="square" lIns="0" tIns="0" rIns="0" bIns="0" rtlCol="0" anchor="ctr"/>
          <a:lstStyle/>
          <a:p>
            <a:pPr indent="0" marL="0">
              <a:lnSpc>
                <a:spcPts val="1500"/>
              </a:lnSpc>
              <a:buNone/>
            </a:pPr>
            <a:r>
              <a:rPr lang="en-US" sz="1150" dirty="0">
                <a:solidFill>
                  <a:srgbClr val="9FB3BD"/>
                </a:solidFill>
                <a:latin typeface="Calibri" pitchFamily="34" charset="0"/>
                <a:ea typeface="Calibri" pitchFamily="34" charset="-122"/>
                <a:cs typeface="Calibri" pitchFamily="34" charset="-120"/>
              </a:rPr>
              <a:t>the largest pairwise distance in the set — BASELINE ↔ MANSION</a:t>
            </a:r>
            <a:endParaRPr lang="en-US" sz="1150" dirty="0"/>
          </a:p>
        </p:txBody>
      </p:sp>
      <p:sp>
        <p:nvSpPr>
          <p:cNvPr id="17" name="Text 14"/>
          <p:cNvSpPr/>
          <p:nvPr/>
        </p:nvSpPr>
        <p:spPr>
          <a:xfrm>
            <a:off x="7726680" y="3657600"/>
            <a:ext cx="3657600" cy="201168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The most visually distinct video in the set is the one Gate 1 rejected.</a:t>
            </a:r>
            <a:endParaRPr lang="en-US" sz="1250" dirty="0"/>
          </a:p>
          <a:p>
            <a:pPr indent="0" marL="0">
              <a:lnSpc>
                <a:spcPts val="1700"/>
              </a:lnSpc>
              <a:buNone/>
            </a:pPr>
            <a:endParaRPr lang="en-US" sz="1250" dirty="0"/>
          </a:p>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Optimising for variety alone would have shipped the video that misrepresents the product.</a:t>
            </a:r>
            <a:endParaRPr lang="en-US" sz="1250" dirty="0"/>
          </a:p>
          <a:p>
            <a:pPr indent="0" marL="0">
              <a:lnSpc>
                <a:spcPts val="1700"/>
              </a:lnSpc>
              <a:buNone/>
            </a:pPr>
            <a:endParaRPr lang="en-US" sz="1250" dirty="0"/>
          </a:p>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This came out of the measurements, not the design — and it is why the two gates are kept independent.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MILESTONE 3.1 — PERFORMANCE</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Where the time actually goes</a:t>
            </a:r>
            <a:endParaRPr lang="en-US" sz="3000" dirty="0"/>
          </a:p>
        </p:txBody>
      </p:sp>
      <p:graphicFrame>
        <p:nvGraphicFramePr>
          <p:cNvPr id="4" name="Chart 0" descr=""/>
          <p:cNvGraphicFramePr/>
          <p:nvPr/>
        </p:nvGraphicFramePr>
        <p:xfrm>
          <a:off x="566928" y="1417320"/>
          <a:ext cx="64465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709160"/>
            <a:ext cx="6446520" cy="45720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Measured by the application while it ran, over four clips. Ekly generation time is excluded — a manual web step with no API, never measured.</a:t>
            </a:r>
            <a:endParaRPr lang="en-US" sz="1100" dirty="0"/>
          </a:p>
        </p:txBody>
      </p:sp>
      <p:sp>
        <p:nvSpPr>
          <p:cNvPr id="6" name="Text 3"/>
          <p:cNvSpPr/>
          <p:nvPr/>
        </p:nvSpPr>
        <p:spPr>
          <a:xfrm>
            <a:off x="566928" y="5303520"/>
            <a:ext cx="210312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221.2 s</a:t>
            </a:r>
            <a:endParaRPr lang="en-US" sz="3400" dirty="0"/>
          </a:p>
        </p:txBody>
      </p:sp>
      <p:sp>
        <p:nvSpPr>
          <p:cNvPr id="7" name="Text 4"/>
          <p:cNvSpPr/>
          <p:nvPr/>
        </p:nvSpPr>
        <p:spPr>
          <a:xfrm>
            <a:off x="566928" y="581558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total automated</a:t>
            </a:r>
            <a:endParaRPr lang="en-US" sz="1150" dirty="0"/>
          </a:p>
        </p:txBody>
      </p:sp>
      <p:sp>
        <p:nvSpPr>
          <p:cNvPr id="8" name="Text 5"/>
          <p:cNvSpPr/>
          <p:nvPr/>
        </p:nvSpPr>
        <p:spPr>
          <a:xfrm>
            <a:off x="2852928" y="5303520"/>
            <a:ext cx="2103120" cy="530352"/>
          </a:xfrm>
          <a:prstGeom prst="rect">
            <a:avLst/>
          </a:prstGeom>
          <a:noFill/>
          <a:ln/>
        </p:spPr>
        <p:txBody>
          <a:bodyPr wrap="square" lIns="0" tIns="0" rIns="0" bIns="0" rtlCol="0" anchor="ctr"/>
          <a:lstStyle/>
          <a:p>
            <a:pPr indent="0" marL="0">
              <a:buNone/>
            </a:pPr>
            <a:r>
              <a:rPr lang="en-US" sz="3400" b="1" dirty="0">
                <a:solidFill>
                  <a:srgbClr val="A8342A"/>
                </a:solidFill>
                <a:latin typeface="Cambria" pitchFamily="34" charset="0"/>
                <a:ea typeface="Cambria" pitchFamily="34" charset="-122"/>
                <a:cs typeface="Cambria" pitchFamily="34" charset="-120"/>
              </a:rPr>
              <a:t>81.4%</a:t>
            </a:r>
            <a:endParaRPr lang="en-US" sz="3400" dirty="0"/>
          </a:p>
        </p:txBody>
      </p:sp>
      <p:sp>
        <p:nvSpPr>
          <p:cNvPr id="9" name="Text 6"/>
          <p:cNvSpPr/>
          <p:nvPr/>
        </p:nvSpPr>
        <p:spPr>
          <a:xfrm>
            <a:off x="2852928" y="5815584"/>
            <a:ext cx="21031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is scoring alone</a:t>
            </a:r>
            <a:endParaRPr lang="en-US" sz="1150" dirty="0"/>
          </a:p>
        </p:txBody>
      </p:sp>
      <p:sp>
        <p:nvSpPr>
          <p:cNvPr id="10" name="Text 7"/>
          <p:cNvSpPr/>
          <p:nvPr/>
        </p:nvSpPr>
        <p:spPr>
          <a:xfrm>
            <a:off x="5138928" y="5303520"/>
            <a:ext cx="1874520" cy="530352"/>
          </a:xfrm>
          <a:prstGeom prst="rect">
            <a:avLst/>
          </a:prstGeom>
          <a:noFill/>
          <a:ln/>
        </p:spPr>
        <p:txBody>
          <a:bodyPr wrap="square" lIns="0" tIns="0" rIns="0" bIns="0" rtlCol="0" anchor="ctr"/>
          <a:lstStyle/>
          <a:p>
            <a:pPr indent="0" marL="0">
              <a:buNone/>
            </a:pPr>
            <a:r>
              <a:rPr lang="en-US" sz="3400" b="1" dirty="0">
                <a:solidFill>
                  <a:srgbClr val="131A1F"/>
                </a:solidFill>
                <a:latin typeface="Cambria" pitchFamily="34" charset="0"/>
                <a:ea typeface="Cambria" pitchFamily="34" charset="-122"/>
                <a:cs typeface="Cambria" pitchFamily="34" charset="-120"/>
              </a:rPr>
              <a:t>45.0 s</a:t>
            </a:r>
            <a:endParaRPr lang="en-US" sz="3400" dirty="0"/>
          </a:p>
        </p:txBody>
      </p:sp>
      <p:sp>
        <p:nvSpPr>
          <p:cNvPr id="11" name="Text 8"/>
          <p:cNvSpPr/>
          <p:nvPr/>
        </p:nvSpPr>
        <p:spPr>
          <a:xfrm>
            <a:off x="5138928" y="5815584"/>
            <a:ext cx="1874520" cy="384048"/>
          </a:xfrm>
          <a:prstGeom prst="rect">
            <a:avLst/>
          </a:prstGeom>
          <a:noFill/>
          <a:ln/>
        </p:spPr>
        <p:txBody>
          <a:bodyPr wrap="square" lIns="0" tIns="0" rIns="0" bIns="0" rtlCol="0" anchor="ctr"/>
          <a:lstStyle/>
          <a:p>
            <a:pPr indent="0" marL="0">
              <a:buNone/>
            </a:pPr>
            <a:r>
              <a:rPr lang="en-US" sz="1150" dirty="0">
                <a:solidFill>
                  <a:srgbClr val="6A7B87"/>
                </a:solidFill>
                <a:latin typeface="Calibri" pitchFamily="34" charset="0"/>
                <a:ea typeface="Calibri" pitchFamily="34" charset="-122"/>
                <a:cs typeface="Calibri" pitchFamily="34" charset="-120"/>
              </a:rPr>
              <a:t>per 5-second clip</a:t>
            </a:r>
            <a:endParaRPr lang="en-US" sz="1150" dirty="0"/>
          </a:p>
        </p:txBody>
      </p:sp>
      <p:sp>
        <p:nvSpPr>
          <p:cNvPr id="12" name="Text 9"/>
          <p:cNvSpPr/>
          <p:nvPr/>
        </p:nvSpPr>
        <p:spPr>
          <a:xfrm>
            <a:off x="7452360" y="1463040"/>
            <a:ext cx="4206240" cy="365760"/>
          </a:xfrm>
          <a:prstGeom prst="rect">
            <a:avLst/>
          </a:prstGeom>
          <a:noFill/>
          <a:ln/>
        </p:spPr>
        <p:txBody>
          <a:bodyPr wrap="square" lIns="0" tIns="0" rIns="0" bIns="0" rtlCol="0" anchor="ctr"/>
          <a:lstStyle/>
          <a:p>
            <a:pPr indent="0" marL="0">
              <a:buNone/>
            </a:pPr>
            <a:r>
              <a:rPr lang="en-US" sz="1800" b="1" dirty="0">
                <a:solidFill>
                  <a:srgbClr val="131A1F"/>
                </a:solidFill>
                <a:latin typeface="Cambria" pitchFamily="34" charset="0"/>
                <a:ea typeface="Cambria" pitchFamily="34" charset="-122"/>
                <a:cs typeface="Cambria" pitchFamily="34" charset="-120"/>
              </a:rPr>
              <a:t>Optimisations, and what each is worth</a:t>
            </a:r>
            <a:endParaRPr lang="en-US" sz="1800" dirty="0"/>
          </a:p>
        </p:txBody>
      </p:sp>
      <p:sp>
        <p:nvSpPr>
          <p:cNvPr id="13" name="Text 10"/>
          <p:cNvSpPr/>
          <p:nvPr/>
        </p:nvSpPr>
        <p:spPr>
          <a:xfrm>
            <a:off x="7452360" y="1965960"/>
            <a:ext cx="4206240" cy="256032"/>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Frame sampling</a:t>
            </a:r>
            <a:endParaRPr lang="en-US" sz="1250" dirty="0"/>
          </a:p>
        </p:txBody>
      </p:sp>
      <p:sp>
        <p:nvSpPr>
          <p:cNvPr id="14" name="Text 11"/>
          <p:cNvSpPr/>
          <p:nvPr/>
        </p:nvSpPr>
        <p:spPr>
          <a:xfrm>
            <a:off x="7452360" y="2212848"/>
            <a:ext cx="420624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31 of 153 frames scored — 4.9× fewer than a full pass. The largest lever.</a:t>
            </a:r>
            <a:endParaRPr lang="en-US" sz="1050" dirty="0"/>
          </a:p>
        </p:txBody>
      </p:sp>
      <p:sp>
        <p:nvSpPr>
          <p:cNvPr id="15" name="Text 12"/>
          <p:cNvSpPr/>
          <p:nvPr/>
        </p:nvSpPr>
        <p:spPr>
          <a:xfrm>
            <a:off x="7452360" y="2761488"/>
            <a:ext cx="4206240" cy="256032"/>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Cached model sessions</a:t>
            </a:r>
            <a:endParaRPr lang="en-US" sz="1250" dirty="0"/>
          </a:p>
        </p:txBody>
      </p:sp>
      <p:sp>
        <p:nvSpPr>
          <p:cNvPr id="16" name="Text 13"/>
          <p:cNvSpPr/>
          <p:nvPr/>
        </p:nvSpPr>
        <p:spPr>
          <a:xfrm>
            <a:off x="7452360" y="3008376"/>
            <a:ext cx="420624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Segmentation 4.70 → 0.59 → 0.51 s; CLIP 2.00 → 0.05 → 0.05 s across three calls.</a:t>
            </a:r>
            <a:endParaRPr lang="en-US" sz="1050" dirty="0"/>
          </a:p>
        </p:txBody>
      </p:sp>
      <p:sp>
        <p:nvSpPr>
          <p:cNvPr id="17" name="Text 14"/>
          <p:cNvSpPr/>
          <p:nvPr/>
        </p:nvSpPr>
        <p:spPr>
          <a:xfrm>
            <a:off x="7452360" y="3557016"/>
            <a:ext cx="4206240" cy="256032"/>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Signature once per product</a:t>
            </a:r>
            <a:endParaRPr lang="en-US" sz="1250" dirty="0"/>
          </a:p>
        </p:txBody>
      </p:sp>
      <p:sp>
        <p:nvSpPr>
          <p:cNvPr id="18" name="Text 15"/>
          <p:cNvSpPr/>
          <p:nvPr/>
        </p:nvSpPr>
        <p:spPr>
          <a:xfrm>
            <a:off x="7452360" y="3803904"/>
            <a:ext cx="420624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Mask, palette, texture and CLIP vector reused for every video and re-score.</a:t>
            </a:r>
            <a:endParaRPr lang="en-US" sz="1050" dirty="0"/>
          </a:p>
        </p:txBody>
      </p:sp>
      <p:sp>
        <p:nvSpPr>
          <p:cNvPr id="19" name="Text 16"/>
          <p:cNvSpPr/>
          <p:nvPr/>
        </p:nvSpPr>
        <p:spPr>
          <a:xfrm>
            <a:off x="7452360" y="4352544"/>
            <a:ext cx="4206240" cy="256032"/>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Batched embeddings</a:t>
            </a:r>
            <a:endParaRPr lang="en-US" sz="1250" dirty="0"/>
          </a:p>
        </p:txBody>
      </p:sp>
      <p:sp>
        <p:nvSpPr>
          <p:cNvPr id="20" name="Text 17"/>
          <p:cNvSpPr/>
          <p:nvPr/>
        </p:nvSpPr>
        <p:spPr>
          <a:xfrm>
            <a:off x="7452360" y="4599432"/>
            <a:ext cx="420624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CLIP runs 16 images per session call.</a:t>
            </a:r>
            <a:endParaRPr lang="en-US" sz="1050" dirty="0"/>
          </a:p>
        </p:txBody>
      </p:sp>
      <p:sp>
        <p:nvSpPr>
          <p:cNvPr id="21" name="Text 18"/>
          <p:cNvSpPr/>
          <p:nvPr/>
        </p:nvSpPr>
        <p:spPr>
          <a:xfrm>
            <a:off x="7452360" y="5148072"/>
            <a:ext cx="4206240" cy="256032"/>
          </a:xfrm>
          <a:prstGeom prst="rect">
            <a:avLst/>
          </a:prstGeom>
          <a:noFill/>
          <a:ln/>
        </p:spPr>
        <p:txBody>
          <a:bodyPr wrap="square" lIns="0" tIns="0" rIns="0" bIns="0" rtlCol="0" anchor="ctr"/>
          <a:lstStyle/>
          <a:p>
            <a:pPr indent="0" marL="0">
              <a:buNone/>
            </a:pPr>
            <a:r>
              <a:rPr lang="en-US" sz="1250" b="1" dirty="0">
                <a:solidFill>
                  <a:srgbClr val="0A5D69"/>
                </a:solidFill>
                <a:latin typeface="Calibri" pitchFamily="34" charset="0"/>
                <a:ea typeface="Calibri" pitchFamily="34" charset="-122"/>
                <a:cs typeface="Calibri" pitchFamily="34" charset="-120"/>
              </a:rPr>
              <a:t>Reduced-resolution masks</a:t>
            </a:r>
            <a:endParaRPr lang="en-US" sz="1250" dirty="0"/>
          </a:p>
        </p:txBody>
      </p:sp>
      <p:sp>
        <p:nvSpPr>
          <p:cNvPr id="22" name="Text 19"/>
          <p:cNvSpPr/>
          <p:nvPr/>
        </p:nvSpPr>
        <p:spPr>
          <a:xfrm>
            <a:off x="7452360" y="5394960"/>
            <a:ext cx="4206240" cy="457200"/>
          </a:xfrm>
          <a:prstGeom prst="rect">
            <a:avLst/>
          </a:prstGeom>
          <a:noFill/>
          <a:ln/>
        </p:spPr>
        <p:txBody>
          <a:bodyPr wrap="square" lIns="0" tIns="0" rIns="0" bIns="0" rtlCol="0" anchor="ctr"/>
          <a:lstStyle/>
          <a:p>
            <a:pPr indent="0" marL="0">
              <a:lnSpc>
                <a:spcPts val="1300"/>
              </a:lnSpc>
              <a:buNone/>
            </a:pPr>
            <a:r>
              <a:rPr lang="en-US" sz="1050" dirty="0">
                <a:solidFill>
                  <a:srgbClr val="6A7B87"/>
                </a:solidFill>
                <a:latin typeface="Calibri" pitchFamily="34" charset="0"/>
                <a:ea typeface="Calibri" pitchFamily="34" charset="-122"/>
                <a:cs typeface="Calibri" pitchFamily="34" charset="-120"/>
              </a:rPr>
              <a:t>0.543 → 0.473 s — a 1.15× win, not the 8× an earlier note claimed.</a:t>
            </a:r>
            <a:endParaRPr lang="en-US" sz="1050" dirty="0"/>
          </a:p>
        </p:txBody>
      </p:sp>
      <p:sp>
        <p:nvSpPr>
          <p:cNvPr id="23" name="Text 20"/>
          <p:cNvSpPr/>
          <p:nvPr/>
        </p:nvSpPr>
        <p:spPr>
          <a:xfrm>
            <a:off x="7452360" y="5943600"/>
            <a:ext cx="4206240" cy="457200"/>
          </a:xfrm>
          <a:prstGeom prst="rect">
            <a:avLst/>
          </a:prstGeom>
          <a:noFill/>
          <a:ln/>
        </p:spPr>
        <p:txBody>
          <a:bodyPr wrap="square" lIns="0" tIns="0" rIns="0" bIns="0" rtlCol="0" anchor="ctr"/>
          <a:lstStyle/>
          <a:p>
            <a:pPr indent="0" marL="0">
              <a:lnSpc>
                <a:spcPts val="1300"/>
              </a:lnSpc>
              <a:buNone/>
            </a:pPr>
            <a:r>
              <a:rPr lang="en-US" sz="1050" i="1" dirty="0">
                <a:solidFill>
                  <a:srgbClr val="A8342A"/>
                </a:solidFill>
                <a:latin typeface="Calibri" pitchFamily="34" charset="0"/>
                <a:ea typeface="Calibri" pitchFamily="34" charset="-122"/>
                <a:cs typeface="Calibri" pitchFamily="34" charset="-120"/>
              </a:rPr>
              <a:t>We corrected our own number: the earlier 8× claim compared a cold call including model load against a warm 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MILESTONE 3.2 — PRODUCTION OUTPUT</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Three validated ads, verified by reading the files back</a:t>
            </a:r>
            <a:endParaRPr lang="en-US" sz="3000" dirty="0"/>
          </a:p>
        </p:txBody>
      </p:sp>
      <p:pic>
        <p:nvPicPr>
          <p:cNvPr id="4" name="Image 0" descr="C:\Users\Rahil Ahmed\Desktop\GIGCB\evidence\m3_export_frames\BASELINE-courtyard.png">    </p:cNvPr>
          <p:cNvPicPr>
            <a:picLocks noChangeAspect="1"/>
          </p:cNvPicPr>
          <p:nvPr/>
        </p:nvPicPr>
        <p:blipFill>
          <a:blip r:embed="rId1"/>
          <a:stretch>
            <a:fillRect/>
          </a:stretch>
        </p:blipFill>
        <p:spPr>
          <a:xfrm>
            <a:off x="566928" y="1417320"/>
            <a:ext cx="1920240" cy="3410712"/>
          </a:xfrm>
          <a:prstGeom prst="rect">
            <a:avLst/>
          </a:prstGeom>
        </p:spPr>
      </p:pic>
      <p:sp>
        <p:nvSpPr>
          <p:cNvPr id="5" name="Text 2"/>
          <p:cNvSpPr/>
          <p:nvPr/>
        </p:nvSpPr>
        <p:spPr>
          <a:xfrm>
            <a:off x="566928" y="4901184"/>
            <a:ext cx="192024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BASELINE-courtyard</a:t>
            </a:r>
            <a:endParaRPr lang="en-US" sz="1100" dirty="0"/>
          </a:p>
        </p:txBody>
      </p:sp>
      <p:sp>
        <p:nvSpPr>
          <p:cNvPr id="6" name="Text 3"/>
          <p:cNvSpPr/>
          <p:nvPr/>
        </p:nvSpPr>
        <p:spPr>
          <a:xfrm>
            <a:off x="566928" y="5138928"/>
            <a:ext cx="1920240" cy="256032"/>
          </a:xfrm>
          <a:prstGeom prst="rect">
            <a:avLst/>
          </a:prstGeom>
          <a:noFill/>
          <a:ln/>
        </p:spPr>
        <p:txBody>
          <a:bodyPr wrap="square" lIns="0" tIns="0" rIns="0" bIns="0" rtlCol="0" anchor="ctr"/>
          <a:lstStyle/>
          <a:p>
            <a:pPr indent="0" marL="0">
              <a:buNone/>
            </a:pPr>
            <a:r>
              <a:rPr lang="en-US" sz="1000" dirty="0">
                <a:solidFill>
                  <a:srgbClr val="6A7B87"/>
                </a:solidFill>
                <a:latin typeface="Calibri" pitchFamily="34" charset="0"/>
                <a:ea typeface="Calibri" pitchFamily="34" charset="-122"/>
                <a:cs typeface="Calibri" pitchFamily="34" charset="-120"/>
              </a:rPr>
              <a:t>1080×1920 · 5.10 s · 6.37 MB</a:t>
            </a:r>
            <a:endParaRPr lang="en-US" sz="1000" dirty="0"/>
          </a:p>
        </p:txBody>
      </p:sp>
      <p:pic>
        <p:nvPicPr>
          <p:cNvPr id="7" name="Image 1" descr="C:\Users\Rahil Ahmed\Desktop\GIGCB\evidence\m3_export_frames\MANDAP-dusk.png">    </p:cNvPr>
          <p:cNvPicPr>
            <a:picLocks noChangeAspect="1"/>
          </p:cNvPicPr>
          <p:nvPr/>
        </p:nvPicPr>
        <p:blipFill>
          <a:blip r:embed="rId2"/>
          <a:stretch>
            <a:fillRect/>
          </a:stretch>
        </p:blipFill>
        <p:spPr>
          <a:xfrm>
            <a:off x="2724912" y="1417320"/>
            <a:ext cx="1920240" cy="3410712"/>
          </a:xfrm>
          <a:prstGeom prst="rect">
            <a:avLst/>
          </a:prstGeom>
        </p:spPr>
      </p:pic>
      <p:sp>
        <p:nvSpPr>
          <p:cNvPr id="8" name="Text 4"/>
          <p:cNvSpPr/>
          <p:nvPr/>
        </p:nvSpPr>
        <p:spPr>
          <a:xfrm>
            <a:off x="2724912" y="4901184"/>
            <a:ext cx="192024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MANDAP-dusk</a:t>
            </a:r>
            <a:endParaRPr lang="en-US" sz="1100" dirty="0"/>
          </a:p>
        </p:txBody>
      </p:sp>
      <p:sp>
        <p:nvSpPr>
          <p:cNvPr id="9" name="Text 5"/>
          <p:cNvSpPr/>
          <p:nvPr/>
        </p:nvSpPr>
        <p:spPr>
          <a:xfrm>
            <a:off x="2724912" y="5138928"/>
            <a:ext cx="1920240" cy="256032"/>
          </a:xfrm>
          <a:prstGeom prst="rect">
            <a:avLst/>
          </a:prstGeom>
          <a:noFill/>
          <a:ln/>
        </p:spPr>
        <p:txBody>
          <a:bodyPr wrap="square" lIns="0" tIns="0" rIns="0" bIns="0" rtlCol="0" anchor="ctr"/>
          <a:lstStyle/>
          <a:p>
            <a:pPr indent="0" marL="0">
              <a:buNone/>
            </a:pPr>
            <a:r>
              <a:rPr lang="en-US" sz="1000" dirty="0">
                <a:solidFill>
                  <a:srgbClr val="6A7B87"/>
                </a:solidFill>
                <a:latin typeface="Calibri" pitchFamily="34" charset="0"/>
                <a:ea typeface="Calibri" pitchFamily="34" charset="-122"/>
                <a:cs typeface="Calibri" pitchFamily="34" charset="-120"/>
              </a:rPr>
              <a:t>1080×1920 · 5.10 s · 6.99 MB</a:t>
            </a:r>
            <a:endParaRPr lang="en-US" sz="1000" dirty="0"/>
          </a:p>
        </p:txBody>
      </p:sp>
      <p:pic>
        <p:nvPicPr>
          <p:cNvPr id="10" name="Image 2" descr="C:\Users\Rahil Ahmed\Desktop\GIGCB\evidence\m3_export_frames\ROOFTOP-night.png">    </p:cNvPr>
          <p:cNvPicPr>
            <a:picLocks noChangeAspect="1"/>
          </p:cNvPicPr>
          <p:nvPr/>
        </p:nvPicPr>
        <p:blipFill>
          <a:blip r:embed="rId3"/>
          <a:stretch>
            <a:fillRect/>
          </a:stretch>
        </p:blipFill>
        <p:spPr>
          <a:xfrm>
            <a:off x="4882896" y="1417320"/>
            <a:ext cx="1920240" cy="3410712"/>
          </a:xfrm>
          <a:prstGeom prst="rect">
            <a:avLst/>
          </a:prstGeom>
        </p:spPr>
      </p:pic>
      <p:sp>
        <p:nvSpPr>
          <p:cNvPr id="11" name="Text 6"/>
          <p:cNvSpPr/>
          <p:nvPr/>
        </p:nvSpPr>
        <p:spPr>
          <a:xfrm>
            <a:off x="4882896" y="4901184"/>
            <a:ext cx="192024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ROOFTOP-night</a:t>
            </a:r>
            <a:endParaRPr lang="en-US" sz="1100" dirty="0"/>
          </a:p>
        </p:txBody>
      </p:sp>
      <p:sp>
        <p:nvSpPr>
          <p:cNvPr id="12" name="Text 7"/>
          <p:cNvSpPr/>
          <p:nvPr/>
        </p:nvSpPr>
        <p:spPr>
          <a:xfrm>
            <a:off x="4882896" y="5138928"/>
            <a:ext cx="1920240" cy="256032"/>
          </a:xfrm>
          <a:prstGeom prst="rect">
            <a:avLst/>
          </a:prstGeom>
          <a:noFill/>
          <a:ln/>
        </p:spPr>
        <p:txBody>
          <a:bodyPr wrap="square" lIns="0" tIns="0" rIns="0" bIns="0" rtlCol="0" anchor="ctr"/>
          <a:lstStyle/>
          <a:p>
            <a:pPr indent="0" marL="0">
              <a:buNone/>
            </a:pPr>
            <a:r>
              <a:rPr lang="en-US" sz="1000" dirty="0">
                <a:solidFill>
                  <a:srgbClr val="6A7B87"/>
                </a:solidFill>
                <a:latin typeface="Calibri" pitchFamily="34" charset="0"/>
                <a:ea typeface="Calibri" pitchFamily="34" charset="-122"/>
                <a:cs typeface="Calibri" pitchFamily="34" charset="-120"/>
              </a:rPr>
              <a:t>1080×1920 · 5.10 s · 3.70 MB</a:t>
            </a:r>
            <a:endParaRPr lang="en-US" sz="1000" dirty="0"/>
          </a:p>
        </p:txBody>
      </p:sp>
      <p:sp>
        <p:nvSpPr>
          <p:cNvPr id="13" name="Text 8"/>
          <p:cNvSpPr/>
          <p:nvPr/>
        </p:nvSpPr>
        <p:spPr>
          <a:xfrm>
            <a:off x="7223760" y="1463040"/>
            <a:ext cx="4480560" cy="365760"/>
          </a:xfrm>
          <a:prstGeom prst="rect">
            <a:avLst/>
          </a:prstGeom>
          <a:noFill/>
          <a:ln/>
        </p:spPr>
        <p:txBody>
          <a:bodyPr wrap="square" lIns="0" tIns="0" rIns="0" bIns="0" rtlCol="0" anchor="ctr"/>
          <a:lstStyle/>
          <a:p>
            <a:pPr indent="0" marL="0">
              <a:buNone/>
            </a:pPr>
            <a:r>
              <a:rPr lang="en-US" sz="1900" b="1" dirty="0">
                <a:solidFill>
                  <a:srgbClr val="131A1F"/>
                </a:solidFill>
                <a:latin typeface="Cambria" pitchFamily="34" charset="0"/>
                <a:ea typeface="Cambria" pitchFamily="34" charset="-122"/>
                <a:cs typeface="Cambria" pitchFamily="34" charset="-120"/>
              </a:rPr>
              <a:t>Delivery specification</a:t>
            </a:r>
            <a:endParaRPr lang="en-US" sz="1900" dirty="0"/>
          </a:p>
        </p:txBody>
      </p:sp>
      <p:sp>
        <p:nvSpPr>
          <p:cNvPr id="14" name="Text 9"/>
          <p:cNvSpPr/>
          <p:nvPr/>
        </p:nvSpPr>
        <p:spPr>
          <a:xfrm>
            <a:off x="7223760" y="19385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Resolution</a:t>
            </a:r>
            <a:endParaRPr lang="en-US" sz="1200" dirty="0"/>
          </a:p>
        </p:txBody>
      </p:sp>
      <p:sp>
        <p:nvSpPr>
          <p:cNvPr id="15" name="Text 10"/>
          <p:cNvSpPr/>
          <p:nvPr/>
        </p:nvSpPr>
        <p:spPr>
          <a:xfrm>
            <a:off x="9098280" y="19385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1080 × 1920</a:t>
            </a:r>
            <a:endParaRPr lang="en-US" sz="1200" dirty="0"/>
          </a:p>
        </p:txBody>
      </p:sp>
      <p:sp>
        <p:nvSpPr>
          <p:cNvPr id="16" name="Shape 11"/>
          <p:cNvSpPr/>
          <p:nvPr/>
        </p:nvSpPr>
        <p:spPr>
          <a:xfrm>
            <a:off x="7223760" y="2249424"/>
            <a:ext cx="4480560" cy="7315"/>
          </a:xfrm>
          <a:prstGeom prst="rect">
            <a:avLst/>
          </a:prstGeom>
          <a:solidFill>
            <a:srgbClr val="E1E6E9"/>
          </a:solidFill>
          <a:ln/>
        </p:spPr>
      </p:sp>
      <p:sp>
        <p:nvSpPr>
          <p:cNvPr id="17" name="Text 12"/>
          <p:cNvSpPr/>
          <p:nvPr/>
        </p:nvSpPr>
        <p:spPr>
          <a:xfrm>
            <a:off x="7223760" y="23957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Aspect</a:t>
            </a:r>
            <a:endParaRPr lang="en-US" sz="1200" dirty="0"/>
          </a:p>
        </p:txBody>
      </p:sp>
      <p:sp>
        <p:nvSpPr>
          <p:cNvPr id="18" name="Text 13"/>
          <p:cNvSpPr/>
          <p:nvPr/>
        </p:nvSpPr>
        <p:spPr>
          <a:xfrm>
            <a:off x="9098280" y="23957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0.5625 (9:16)</a:t>
            </a:r>
            <a:endParaRPr lang="en-US" sz="1200" dirty="0"/>
          </a:p>
        </p:txBody>
      </p:sp>
      <p:sp>
        <p:nvSpPr>
          <p:cNvPr id="19" name="Shape 14"/>
          <p:cNvSpPr/>
          <p:nvPr/>
        </p:nvSpPr>
        <p:spPr>
          <a:xfrm>
            <a:off x="7223760" y="2706624"/>
            <a:ext cx="4480560" cy="7315"/>
          </a:xfrm>
          <a:prstGeom prst="rect">
            <a:avLst/>
          </a:prstGeom>
          <a:solidFill>
            <a:srgbClr val="E1E6E9"/>
          </a:solidFill>
          <a:ln/>
        </p:spPr>
      </p:sp>
      <p:sp>
        <p:nvSpPr>
          <p:cNvPr id="20" name="Text 15"/>
          <p:cNvSpPr/>
          <p:nvPr/>
        </p:nvSpPr>
        <p:spPr>
          <a:xfrm>
            <a:off x="7223760" y="28529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Codec / format</a:t>
            </a:r>
            <a:endParaRPr lang="en-US" sz="1200" dirty="0"/>
          </a:p>
        </p:txBody>
      </p:sp>
      <p:sp>
        <p:nvSpPr>
          <p:cNvPr id="21" name="Text 16"/>
          <p:cNvSpPr/>
          <p:nvPr/>
        </p:nvSpPr>
        <p:spPr>
          <a:xfrm>
            <a:off x="9098280" y="28529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H.264 · yuv420p · MP4</a:t>
            </a:r>
            <a:endParaRPr lang="en-US" sz="1200" dirty="0"/>
          </a:p>
        </p:txBody>
      </p:sp>
      <p:sp>
        <p:nvSpPr>
          <p:cNvPr id="22" name="Shape 17"/>
          <p:cNvSpPr/>
          <p:nvPr/>
        </p:nvSpPr>
        <p:spPr>
          <a:xfrm>
            <a:off x="7223760" y="3163824"/>
            <a:ext cx="4480560" cy="7315"/>
          </a:xfrm>
          <a:prstGeom prst="rect">
            <a:avLst/>
          </a:prstGeom>
          <a:solidFill>
            <a:srgbClr val="E1E6E9"/>
          </a:solidFill>
          <a:ln/>
        </p:spPr>
      </p:sp>
      <p:sp>
        <p:nvSpPr>
          <p:cNvPr id="23" name="Text 18"/>
          <p:cNvSpPr/>
          <p:nvPr/>
        </p:nvSpPr>
        <p:spPr>
          <a:xfrm>
            <a:off x="7223760" y="33101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Frame rate</a:t>
            </a:r>
            <a:endParaRPr lang="en-US" sz="1200" dirty="0"/>
          </a:p>
        </p:txBody>
      </p:sp>
      <p:sp>
        <p:nvSpPr>
          <p:cNvPr id="24" name="Text 19"/>
          <p:cNvSpPr/>
          <p:nvPr/>
        </p:nvSpPr>
        <p:spPr>
          <a:xfrm>
            <a:off x="9098280" y="33101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30 fps · 153 frames</a:t>
            </a:r>
            <a:endParaRPr lang="en-US" sz="1200" dirty="0"/>
          </a:p>
        </p:txBody>
      </p:sp>
      <p:sp>
        <p:nvSpPr>
          <p:cNvPr id="25" name="Shape 20"/>
          <p:cNvSpPr/>
          <p:nvPr/>
        </p:nvSpPr>
        <p:spPr>
          <a:xfrm>
            <a:off x="7223760" y="3621024"/>
            <a:ext cx="4480560" cy="7315"/>
          </a:xfrm>
          <a:prstGeom prst="rect">
            <a:avLst/>
          </a:prstGeom>
          <a:solidFill>
            <a:srgbClr val="E1E6E9"/>
          </a:solidFill>
          <a:ln/>
        </p:spPr>
      </p:sp>
      <p:sp>
        <p:nvSpPr>
          <p:cNvPr id="26" name="Text 21"/>
          <p:cNvSpPr/>
          <p:nvPr/>
        </p:nvSpPr>
        <p:spPr>
          <a:xfrm>
            <a:off x="7223760" y="37673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Fit mode</a:t>
            </a:r>
            <a:endParaRPr lang="en-US" sz="1200" dirty="0"/>
          </a:p>
        </p:txBody>
      </p:sp>
      <p:sp>
        <p:nvSpPr>
          <p:cNvPr id="27" name="Text 22"/>
          <p:cNvSpPr/>
          <p:nvPr/>
        </p:nvSpPr>
        <p:spPr>
          <a:xfrm>
            <a:off x="9098280" y="37673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crop — 100% of garment retained</a:t>
            </a:r>
            <a:endParaRPr lang="en-US" sz="1200" dirty="0"/>
          </a:p>
        </p:txBody>
      </p:sp>
      <p:sp>
        <p:nvSpPr>
          <p:cNvPr id="28" name="Shape 23"/>
          <p:cNvSpPr/>
          <p:nvPr/>
        </p:nvSpPr>
        <p:spPr>
          <a:xfrm>
            <a:off x="7223760" y="4078224"/>
            <a:ext cx="4480560" cy="7315"/>
          </a:xfrm>
          <a:prstGeom prst="rect">
            <a:avLst/>
          </a:prstGeom>
          <a:solidFill>
            <a:srgbClr val="E1E6E9"/>
          </a:solidFill>
          <a:ln/>
        </p:spPr>
      </p:sp>
      <p:sp>
        <p:nvSpPr>
          <p:cNvPr id="29" name="Text 24"/>
          <p:cNvSpPr/>
          <p:nvPr/>
        </p:nvSpPr>
        <p:spPr>
          <a:xfrm>
            <a:off x="7223760" y="4224528"/>
            <a:ext cx="1828800" cy="274320"/>
          </a:xfrm>
          <a:prstGeom prst="rect">
            <a:avLst/>
          </a:prstGeom>
          <a:noFill/>
          <a:ln/>
        </p:spPr>
        <p:txBody>
          <a:bodyPr wrap="square" lIns="0" tIns="0" rIns="0" bIns="0" rtlCol="0" anchor="ctr"/>
          <a:lstStyle/>
          <a:p>
            <a:pPr indent="0" marL="0">
              <a:buNone/>
            </a:pPr>
            <a:r>
              <a:rPr lang="en-US" sz="1200" dirty="0">
                <a:solidFill>
                  <a:srgbClr val="6A7B87"/>
                </a:solidFill>
                <a:latin typeface="Calibri" pitchFamily="34" charset="0"/>
                <a:ea typeface="Calibri" pitchFamily="34" charset="-122"/>
                <a:cs typeface="Calibri" pitchFamily="34" charset="-120"/>
              </a:rPr>
              <a:t>Conforming</a:t>
            </a:r>
            <a:endParaRPr lang="en-US" sz="1200" dirty="0"/>
          </a:p>
        </p:txBody>
      </p:sp>
      <p:sp>
        <p:nvSpPr>
          <p:cNvPr id="30" name="Text 25"/>
          <p:cNvSpPr/>
          <p:nvPr/>
        </p:nvSpPr>
        <p:spPr>
          <a:xfrm>
            <a:off x="9098280" y="4224528"/>
            <a:ext cx="2606040" cy="274320"/>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3 of 3</a:t>
            </a:r>
            <a:endParaRPr lang="en-US" sz="1200" dirty="0"/>
          </a:p>
        </p:txBody>
      </p:sp>
      <p:sp>
        <p:nvSpPr>
          <p:cNvPr id="31" name="Shape 26"/>
          <p:cNvSpPr/>
          <p:nvPr/>
        </p:nvSpPr>
        <p:spPr>
          <a:xfrm>
            <a:off x="7223760" y="4535424"/>
            <a:ext cx="4480560" cy="7315"/>
          </a:xfrm>
          <a:prstGeom prst="rect">
            <a:avLst/>
          </a:prstGeom>
          <a:solidFill>
            <a:srgbClr val="E1E6E9"/>
          </a:solidFill>
          <a:ln/>
        </p:spPr>
      </p:sp>
      <p:sp>
        <p:nvSpPr>
          <p:cNvPr id="32" name="Text 27"/>
          <p:cNvSpPr/>
          <p:nvPr/>
        </p:nvSpPr>
        <p:spPr>
          <a:xfrm>
            <a:off x="7223760" y="4754880"/>
            <a:ext cx="4480560" cy="274320"/>
          </a:xfrm>
          <a:prstGeom prst="rect">
            <a:avLst/>
          </a:prstGeom>
          <a:noFill/>
          <a:ln/>
        </p:spPr>
        <p:txBody>
          <a:bodyPr wrap="square" lIns="0" tIns="0" rIns="0" bIns="0" rtlCol="0" anchor="ctr"/>
          <a:lstStyle/>
          <a:p>
            <a:pPr indent="0" marL="0">
              <a:buNone/>
            </a:pPr>
            <a:r>
              <a:rPr lang="en-US" sz="1050" i="1" dirty="0">
                <a:solidFill>
                  <a:srgbClr val="6A7B87"/>
                </a:solidFill>
                <a:latin typeface="Calibri" pitchFamily="34" charset="0"/>
                <a:ea typeface="Calibri" pitchFamily="34" charset="-122"/>
                <a:cs typeface="Calibri" pitchFamily="34" charset="-120"/>
              </a:rPr>
              <a:t>Read back from the written files, not taken from encoder settings.</a:t>
            </a:r>
            <a:endParaRPr lang="en-US" sz="1050" dirty="0"/>
          </a:p>
        </p:txBody>
      </p:sp>
      <p:sp>
        <p:nvSpPr>
          <p:cNvPr id="33" name="Shape 28"/>
          <p:cNvSpPr/>
          <p:nvPr/>
        </p:nvSpPr>
        <p:spPr>
          <a:xfrm>
            <a:off x="7223760" y="5166360"/>
            <a:ext cx="4480560" cy="1051560"/>
          </a:xfrm>
          <a:prstGeom prst="roundRect">
            <a:avLst>
              <a:gd name="adj" fmla="val 5217"/>
            </a:avLst>
          </a:prstGeom>
          <a:solidFill>
            <a:srgbClr val="F4F1EC"/>
          </a:solidFill>
          <a:ln w="9525">
            <a:solidFill>
              <a:srgbClr val="E1E6E9"/>
            </a:solidFill>
            <a:prstDash val="solid"/>
          </a:ln>
        </p:spPr>
      </p:sp>
      <p:sp>
        <p:nvSpPr>
          <p:cNvPr id="34" name="Text 29"/>
          <p:cNvSpPr/>
          <p:nvPr/>
        </p:nvSpPr>
        <p:spPr>
          <a:xfrm>
            <a:off x="7452360" y="5321808"/>
            <a:ext cx="4069080" cy="777240"/>
          </a:xfrm>
          <a:prstGeom prst="rect">
            <a:avLst/>
          </a:prstGeom>
          <a:noFill/>
          <a:ln/>
        </p:spPr>
        <p:txBody>
          <a:bodyPr wrap="square" lIns="0" tIns="0" rIns="0" bIns="0" rtlCol="0" anchor="ctr"/>
          <a:lstStyle/>
          <a:p>
            <a:pPr indent="0" marL="0">
              <a:lnSpc>
                <a:spcPts val="1400"/>
              </a:lnSpc>
              <a:buNone/>
            </a:pPr>
            <a:r>
              <a:rPr lang="en-US" sz="1100" dirty="0">
                <a:solidFill>
                  <a:srgbClr val="2B3A44"/>
                </a:solidFill>
                <a:latin typeface="Calibri" pitchFamily="34" charset="0"/>
                <a:ea typeface="Calibri" pitchFamily="34" charset="-122"/>
                <a:cs typeface="Calibri" pitchFamily="34" charset="-120"/>
              </a:rPr>
              <a:t>Crop or pad is decided per file from measurement — the system computes how much garment a centre crop would destroy. Crop removed 15.6% of width and 0.00% of the garment.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MILESTONE 3.3 — CROSS-PRODUCT TESTING</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A second product — and a problem the testing found</a:t>
            </a:r>
            <a:endParaRPr lang="en-US" sz="3000" dirty="0"/>
          </a:p>
        </p:txBody>
      </p:sp>
      <p:pic>
        <p:nvPicPr>
          <p:cNvPr id="4" name="Image 0" descr="C:\Users\Rahil Ahmed\Desktop\GIGCB\evidence\m33\kurti_mask.png">    </p:cNvPr>
          <p:cNvPicPr>
            <a:picLocks noChangeAspect="1"/>
          </p:cNvPicPr>
          <p:nvPr/>
        </p:nvPicPr>
        <p:blipFill>
          <a:blip r:embed="rId1"/>
          <a:stretch>
            <a:fillRect/>
          </a:stretch>
        </p:blipFill>
        <p:spPr>
          <a:xfrm>
            <a:off x="566928" y="1417320"/>
            <a:ext cx="2834640" cy="2834640"/>
          </a:xfrm>
          <a:prstGeom prst="rect">
            <a:avLst/>
          </a:prstGeom>
        </p:spPr>
      </p:pic>
      <p:sp>
        <p:nvSpPr>
          <p:cNvPr id="5" name="Text 2"/>
          <p:cNvSpPr/>
          <p:nvPr/>
        </p:nvSpPr>
        <p:spPr>
          <a:xfrm>
            <a:off x="566928" y="4315968"/>
            <a:ext cx="2834640" cy="256032"/>
          </a:xfrm>
          <a:prstGeom prst="rect">
            <a:avLst/>
          </a:prstGeom>
          <a:noFill/>
          <a:ln/>
        </p:spPr>
        <p:txBody>
          <a:bodyPr wrap="square" lIns="0" tIns="0" rIns="0" bIns="0" rtlCol="0" anchor="ctr"/>
          <a:lstStyle/>
          <a:p>
            <a:pPr indent="0" marL="0">
              <a:buNone/>
            </a:pPr>
            <a:r>
              <a:rPr lang="en-US" sz="1200" b="1" dirty="0">
                <a:solidFill>
                  <a:srgbClr val="131A1F"/>
                </a:solidFill>
                <a:latin typeface="Calibri" pitchFamily="34" charset="0"/>
                <a:ea typeface="Calibri" pitchFamily="34" charset="-122"/>
                <a:cs typeface="Calibri" pitchFamily="34" charset="-120"/>
              </a:rPr>
              <a:t>Kurti garment mask</a:t>
            </a:r>
            <a:endParaRPr lang="en-US" sz="1200" dirty="0"/>
          </a:p>
        </p:txBody>
      </p:sp>
      <p:sp>
        <p:nvSpPr>
          <p:cNvPr id="6" name="Text 3"/>
          <p:cNvSpPr/>
          <p:nvPr/>
        </p:nvSpPr>
        <p:spPr>
          <a:xfrm>
            <a:off x="566928" y="4572000"/>
            <a:ext cx="2834640" cy="914400"/>
          </a:xfrm>
          <a:prstGeom prst="rect">
            <a:avLst/>
          </a:prstGeom>
          <a:noFill/>
          <a:ln/>
        </p:spPr>
        <p:txBody>
          <a:bodyPr wrap="square" lIns="0" tIns="0" rIns="0" bIns="0" rtlCol="0" anchor="ctr"/>
          <a:lstStyle/>
          <a:p>
            <a:pPr indent="0" marL="0">
              <a:lnSpc>
                <a:spcPts val="1400"/>
              </a:lnSpc>
              <a:buNone/>
            </a:pPr>
            <a:r>
              <a:rPr lang="en-US" sz="1050" dirty="0">
                <a:solidFill>
                  <a:srgbClr val="6A7B87"/>
                </a:solidFill>
                <a:latin typeface="Calibri" pitchFamily="34" charset="0"/>
                <a:ea typeface="Calibri" pitchFamily="34" charset="-122"/>
                <a:cs typeface="Calibri" pitchFamily="34" charset="-120"/>
              </a:rPr>
              <a:t>Printed panels retained after a fix to the skin filter, which had been deleting warm-toned print. Source 2500×2500, garment 10.95% of frame.</a:t>
            </a:r>
            <a:endParaRPr lang="en-US" sz="1050" dirty="0"/>
          </a:p>
        </p:txBody>
      </p:sp>
      <p:sp>
        <p:nvSpPr>
          <p:cNvPr id="7" name="Text 4"/>
          <p:cNvSpPr/>
          <p:nvPr/>
        </p:nvSpPr>
        <p:spPr>
          <a:xfrm>
            <a:off x="3703320" y="1444752"/>
            <a:ext cx="3931920" cy="548640"/>
          </a:xfrm>
          <a:prstGeom prst="rect">
            <a:avLst/>
          </a:prstGeom>
          <a:noFill/>
          <a:ln/>
        </p:spPr>
        <p:txBody>
          <a:bodyPr wrap="square" lIns="0" tIns="0" rIns="0" bIns="0" rtlCol="0" anchor="ctr"/>
          <a:lstStyle/>
          <a:p>
            <a:pPr indent="0" marL="0">
              <a:lnSpc>
                <a:spcPts val="2000"/>
              </a:lnSpc>
              <a:buNone/>
            </a:pPr>
            <a:r>
              <a:rPr lang="en-US" sz="1500" b="1" dirty="0">
                <a:solidFill>
                  <a:srgbClr val="131A1F"/>
                </a:solidFill>
                <a:latin typeface="Cambria" pitchFamily="34" charset="0"/>
                <a:ea typeface="Cambria" pitchFamily="34" charset="-122"/>
                <a:cs typeface="Cambria" pitchFamily="34" charset="-120"/>
              </a:rPr>
              <a:t>Real kurti video scored through the identical pipeline</a:t>
            </a:r>
            <a:endParaRPr lang="en-US" sz="1500" dirty="0"/>
          </a:p>
        </p:txBody>
      </p:sp>
      <p:sp>
        <p:nvSpPr>
          <p:cNvPr id="8" name="Text 5"/>
          <p:cNvSpPr/>
          <p:nvPr/>
        </p:nvSpPr>
        <p:spPr>
          <a:xfrm>
            <a:off x="3703320" y="2103120"/>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Fidelity mean / min</a:t>
            </a:r>
            <a:endParaRPr lang="en-US" sz="1100" dirty="0"/>
          </a:p>
        </p:txBody>
      </p:sp>
      <p:sp>
        <p:nvSpPr>
          <p:cNvPr id="9" name="Text 6"/>
          <p:cNvSpPr/>
          <p:nvPr/>
        </p:nvSpPr>
        <p:spPr>
          <a:xfrm>
            <a:off x="5943600" y="2103120"/>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55.04 / 38.67</a:t>
            </a:r>
            <a:endParaRPr lang="en-US" sz="1100" dirty="0"/>
          </a:p>
        </p:txBody>
      </p:sp>
      <p:sp>
        <p:nvSpPr>
          <p:cNvPr id="10" name="Text 7"/>
          <p:cNvSpPr/>
          <p:nvPr/>
        </p:nvSpPr>
        <p:spPr>
          <a:xfrm>
            <a:off x="3703320" y="2487168"/>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Delivered</a:t>
            </a:r>
            <a:endParaRPr lang="en-US" sz="1100" dirty="0"/>
          </a:p>
        </p:txBody>
      </p:sp>
      <p:sp>
        <p:nvSpPr>
          <p:cNvPr id="11" name="Text 8"/>
          <p:cNvSpPr/>
          <p:nvPr/>
        </p:nvSpPr>
        <p:spPr>
          <a:xfrm>
            <a:off x="5943600" y="2487168"/>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960×960 square</a:t>
            </a:r>
            <a:endParaRPr lang="en-US" sz="1100" dirty="0"/>
          </a:p>
        </p:txBody>
      </p:sp>
      <p:sp>
        <p:nvSpPr>
          <p:cNvPr id="12" name="Text 9"/>
          <p:cNvSpPr/>
          <p:nvPr/>
        </p:nvSpPr>
        <p:spPr>
          <a:xfrm>
            <a:off x="3703320" y="2871216"/>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ΔE2000</a:t>
            </a:r>
            <a:endParaRPr lang="en-US" sz="1100" dirty="0"/>
          </a:p>
        </p:txBody>
      </p:sp>
      <p:sp>
        <p:nvSpPr>
          <p:cNvPr id="13" name="Text 10"/>
          <p:cNvSpPr/>
          <p:nvPr/>
        </p:nvSpPr>
        <p:spPr>
          <a:xfrm>
            <a:off x="5943600" y="2871216"/>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5.00</a:t>
            </a:r>
            <a:endParaRPr lang="en-US" sz="1100" dirty="0"/>
          </a:p>
        </p:txBody>
      </p:sp>
      <p:sp>
        <p:nvSpPr>
          <p:cNvPr id="14" name="Text 11"/>
          <p:cNvSpPr/>
          <p:nvPr/>
        </p:nvSpPr>
        <p:spPr>
          <a:xfrm>
            <a:off x="3703320" y="3255264"/>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Weave distance</a:t>
            </a:r>
            <a:endParaRPr lang="en-US" sz="1100" dirty="0"/>
          </a:p>
        </p:txBody>
      </p:sp>
      <p:sp>
        <p:nvSpPr>
          <p:cNvPr id="15" name="Text 12"/>
          <p:cNvSpPr/>
          <p:nvPr/>
        </p:nvSpPr>
        <p:spPr>
          <a:xfrm>
            <a:off x="5943600" y="3255264"/>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0.2611</a:t>
            </a:r>
            <a:endParaRPr lang="en-US" sz="1100" dirty="0"/>
          </a:p>
        </p:txBody>
      </p:sp>
      <p:sp>
        <p:nvSpPr>
          <p:cNvPr id="16" name="Text 13"/>
          <p:cNvSpPr/>
          <p:nvPr/>
        </p:nvSpPr>
        <p:spPr>
          <a:xfrm>
            <a:off x="3703320" y="3639312"/>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CLIP identity</a:t>
            </a:r>
            <a:endParaRPr lang="en-US" sz="1100" dirty="0"/>
          </a:p>
        </p:txBody>
      </p:sp>
      <p:sp>
        <p:nvSpPr>
          <p:cNvPr id="17" name="Text 14"/>
          <p:cNvSpPr/>
          <p:nvPr/>
        </p:nvSpPr>
        <p:spPr>
          <a:xfrm>
            <a:off x="5943600" y="3639312"/>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0.8479</a:t>
            </a:r>
            <a:endParaRPr lang="en-US" sz="1100" dirty="0"/>
          </a:p>
        </p:txBody>
      </p:sp>
      <p:sp>
        <p:nvSpPr>
          <p:cNvPr id="18" name="Text 15"/>
          <p:cNvSpPr/>
          <p:nvPr/>
        </p:nvSpPr>
        <p:spPr>
          <a:xfrm>
            <a:off x="3703320" y="4023360"/>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Motion max</a:t>
            </a:r>
            <a:endParaRPr lang="en-US" sz="1100" dirty="0"/>
          </a:p>
        </p:txBody>
      </p:sp>
      <p:sp>
        <p:nvSpPr>
          <p:cNvPr id="19" name="Text 16"/>
          <p:cNvSpPr/>
          <p:nvPr/>
        </p:nvSpPr>
        <p:spPr>
          <a:xfrm>
            <a:off x="5943600" y="4023360"/>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0.0407</a:t>
            </a:r>
            <a:endParaRPr lang="en-US" sz="1100" dirty="0"/>
          </a:p>
        </p:txBody>
      </p:sp>
      <p:sp>
        <p:nvSpPr>
          <p:cNvPr id="20" name="Text 17"/>
          <p:cNvSpPr/>
          <p:nvPr/>
        </p:nvSpPr>
        <p:spPr>
          <a:xfrm>
            <a:off x="3703320" y="4407408"/>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Garment occupancy</a:t>
            </a:r>
            <a:endParaRPr lang="en-US" sz="1100" dirty="0"/>
          </a:p>
        </p:txBody>
      </p:sp>
      <p:sp>
        <p:nvSpPr>
          <p:cNvPr id="21" name="Text 18"/>
          <p:cNvSpPr/>
          <p:nvPr/>
        </p:nvSpPr>
        <p:spPr>
          <a:xfrm>
            <a:off x="5943600" y="4407408"/>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6.6% – 8.7%</a:t>
            </a:r>
            <a:endParaRPr lang="en-US" sz="1100" dirty="0"/>
          </a:p>
        </p:txBody>
      </p:sp>
      <p:sp>
        <p:nvSpPr>
          <p:cNvPr id="22" name="Text 19"/>
          <p:cNvSpPr/>
          <p:nvPr/>
        </p:nvSpPr>
        <p:spPr>
          <a:xfrm>
            <a:off x="3703320" y="4791456"/>
            <a:ext cx="2194560" cy="256032"/>
          </a:xfrm>
          <a:prstGeom prst="rect">
            <a:avLst/>
          </a:prstGeom>
          <a:noFill/>
          <a:ln/>
        </p:spPr>
        <p:txBody>
          <a:bodyPr wrap="square" lIns="0" tIns="0" rIns="0" bIns="0" rtlCol="0" anchor="ctr"/>
          <a:lstStyle/>
          <a:p>
            <a:pPr indent="0" marL="0">
              <a:buNone/>
            </a:pPr>
            <a:r>
              <a:rPr lang="en-US" sz="1100" dirty="0">
                <a:solidFill>
                  <a:srgbClr val="6A7B87"/>
                </a:solidFill>
                <a:latin typeface="Calibri" pitchFamily="34" charset="0"/>
                <a:ea typeface="Calibri" pitchFamily="34" charset="-122"/>
                <a:cs typeface="Calibri" pitchFamily="34" charset="-120"/>
              </a:rPr>
              <a:t>Export</a:t>
            </a:r>
            <a:endParaRPr lang="en-US" sz="1100" dirty="0"/>
          </a:p>
        </p:txBody>
      </p:sp>
      <p:sp>
        <p:nvSpPr>
          <p:cNvPr id="23" name="Text 20"/>
          <p:cNvSpPr/>
          <p:nvPr/>
        </p:nvSpPr>
        <p:spPr>
          <a:xfrm>
            <a:off x="5943600" y="4791456"/>
            <a:ext cx="1737360" cy="256032"/>
          </a:xfrm>
          <a:prstGeom prst="rect">
            <a:avLst/>
          </a:prstGeom>
          <a:noFill/>
          <a:ln/>
        </p:spPr>
        <p:txBody>
          <a:bodyPr wrap="square" lIns="0" tIns="0" rIns="0" bIns="0" rtlCol="0" anchor="ctr"/>
          <a:lstStyle/>
          <a:p>
            <a:pPr indent="0" marL="0">
              <a:buNone/>
            </a:pPr>
            <a:r>
              <a:rPr lang="en-US" sz="1100" b="1" dirty="0">
                <a:solidFill>
                  <a:srgbClr val="131A1F"/>
                </a:solidFill>
                <a:latin typeface="Calibri" pitchFamily="34" charset="0"/>
                <a:ea typeface="Calibri" pitchFamily="34" charset="-122"/>
                <a:cs typeface="Calibri" pitchFamily="34" charset="-120"/>
              </a:rPr>
              <a:t>1080×1920, conforms</a:t>
            </a:r>
            <a:endParaRPr lang="en-US" sz="1100" dirty="0"/>
          </a:p>
        </p:txBody>
      </p:sp>
      <p:sp>
        <p:nvSpPr>
          <p:cNvPr id="24" name="Shape 21"/>
          <p:cNvSpPr/>
          <p:nvPr/>
        </p:nvSpPr>
        <p:spPr>
          <a:xfrm>
            <a:off x="7863840" y="1417320"/>
            <a:ext cx="3794760" cy="4663440"/>
          </a:xfrm>
          <a:prstGeom prst="roundRect">
            <a:avLst>
              <a:gd name="adj" fmla="val 1446"/>
            </a:avLst>
          </a:prstGeom>
          <a:solidFill>
            <a:srgbClr val="FFF8E6"/>
          </a:solidFill>
          <a:ln w="15875">
            <a:solidFill>
              <a:srgbClr val="EED9A4"/>
            </a:solidFill>
            <a:prstDash val="solid"/>
          </a:ln>
        </p:spPr>
      </p:sp>
      <p:sp>
        <p:nvSpPr>
          <p:cNvPr id="25" name="Text 22"/>
          <p:cNvSpPr/>
          <p:nvPr/>
        </p:nvSpPr>
        <p:spPr>
          <a:xfrm>
            <a:off x="8119872" y="1600200"/>
            <a:ext cx="3291840" cy="274320"/>
          </a:xfrm>
          <a:prstGeom prst="rect">
            <a:avLst/>
          </a:prstGeom>
          <a:noFill/>
          <a:ln/>
        </p:spPr>
        <p:txBody>
          <a:bodyPr wrap="square" lIns="0" tIns="0" rIns="0" bIns="0" rtlCol="0" anchor="ctr"/>
          <a:lstStyle/>
          <a:p>
            <a:pPr indent="0" marL="0">
              <a:buNone/>
            </a:pPr>
            <a:r>
              <a:rPr lang="en-US" sz="1100" b="1" spc="130" kern="0" dirty="0">
                <a:solidFill>
                  <a:srgbClr val="8A5D00"/>
                </a:solidFill>
                <a:latin typeface="Calibri" pitchFamily="34" charset="0"/>
                <a:ea typeface="Calibri" pitchFamily="34" charset="-122"/>
                <a:cs typeface="Calibri" pitchFamily="34" charset="-120"/>
              </a:rPr>
              <a:t>The finding</a:t>
            </a:r>
            <a:endParaRPr lang="en-US" sz="1100" dirty="0"/>
          </a:p>
        </p:txBody>
      </p:sp>
      <p:sp>
        <p:nvSpPr>
          <p:cNvPr id="26" name="Text 23"/>
          <p:cNvSpPr/>
          <p:nvPr/>
        </p:nvSpPr>
        <p:spPr>
          <a:xfrm>
            <a:off x="8119872" y="1901952"/>
            <a:ext cx="3291840" cy="777240"/>
          </a:xfrm>
          <a:prstGeom prst="rect">
            <a:avLst/>
          </a:prstGeom>
          <a:noFill/>
          <a:ln/>
        </p:spPr>
        <p:txBody>
          <a:bodyPr wrap="square" lIns="0" tIns="0" rIns="0" bIns="0" rtlCol="0" anchor="ctr"/>
          <a:lstStyle/>
          <a:p>
            <a:pPr indent="0" marL="0">
              <a:lnSpc>
                <a:spcPts val="2200"/>
              </a:lnSpc>
              <a:buNone/>
            </a:pPr>
            <a:r>
              <a:rPr lang="en-US" sz="1700" b="1" dirty="0">
                <a:solidFill>
                  <a:srgbClr val="6B4A00"/>
                </a:solidFill>
                <a:latin typeface="Cambria" pitchFamily="34" charset="0"/>
                <a:ea typeface="Cambria" pitchFamily="34" charset="-122"/>
                <a:cs typeface="Cambria" pitchFamily="34" charset="-120"/>
              </a:rPr>
              <a:t>The kurti was judged against the saree's pass mark</a:t>
            </a:r>
            <a:endParaRPr lang="en-US" sz="1700" dirty="0"/>
          </a:p>
        </p:txBody>
      </p:sp>
      <p:sp>
        <p:nvSpPr>
          <p:cNvPr id="27" name="Text 24"/>
          <p:cNvSpPr/>
          <p:nvPr/>
        </p:nvSpPr>
        <p:spPr>
          <a:xfrm>
            <a:off x="8119872" y="2834640"/>
            <a:ext cx="1005840" cy="411480"/>
          </a:xfrm>
          <a:prstGeom prst="rect">
            <a:avLst/>
          </a:prstGeom>
          <a:noFill/>
          <a:ln/>
        </p:spPr>
        <p:txBody>
          <a:bodyPr wrap="square" lIns="0" tIns="0" rIns="0" bIns="0" rtlCol="0" anchor="ctr"/>
          <a:lstStyle/>
          <a:p>
            <a:pPr indent="0" marL="0">
              <a:buNone/>
            </a:pPr>
            <a:r>
              <a:rPr lang="en-US" sz="2400" b="1" dirty="0">
                <a:solidFill>
                  <a:srgbClr val="6B4A00"/>
                </a:solidFill>
                <a:latin typeface="Cambria" pitchFamily="34" charset="0"/>
                <a:ea typeface="Cambria" pitchFamily="34" charset="-122"/>
                <a:cs typeface="Cambria" pitchFamily="34" charset="-120"/>
              </a:rPr>
              <a:t>51.0</a:t>
            </a:r>
            <a:endParaRPr lang="en-US" sz="2400" dirty="0"/>
          </a:p>
        </p:txBody>
      </p:sp>
      <p:sp>
        <p:nvSpPr>
          <p:cNvPr id="28" name="Text 25"/>
          <p:cNvSpPr/>
          <p:nvPr/>
        </p:nvSpPr>
        <p:spPr>
          <a:xfrm>
            <a:off x="8119872" y="3246120"/>
            <a:ext cx="2011680" cy="274320"/>
          </a:xfrm>
          <a:prstGeom prst="rect">
            <a:avLst/>
          </a:prstGeom>
          <a:noFill/>
          <a:ln/>
        </p:spPr>
        <p:txBody>
          <a:bodyPr wrap="square" lIns="0" tIns="0" rIns="0" bIns="0" rtlCol="0" anchor="ctr"/>
          <a:lstStyle/>
          <a:p>
            <a:pPr indent="0" marL="0">
              <a:buNone/>
            </a:pPr>
            <a:r>
              <a:rPr lang="en-US" sz="1050" dirty="0">
                <a:solidFill>
                  <a:srgbClr val="8A5D00"/>
                </a:solidFill>
                <a:latin typeface="Calibri" pitchFamily="34" charset="0"/>
                <a:ea typeface="Calibri" pitchFamily="34" charset="-122"/>
                <a:cs typeface="Calibri" pitchFamily="34" charset="-120"/>
              </a:rPr>
              <a:t>calibrated on the saree</a:t>
            </a:r>
            <a:endParaRPr lang="en-US" sz="1050" dirty="0"/>
          </a:p>
        </p:txBody>
      </p:sp>
      <p:sp>
        <p:nvSpPr>
          <p:cNvPr id="29" name="Text 26"/>
          <p:cNvSpPr/>
          <p:nvPr/>
        </p:nvSpPr>
        <p:spPr>
          <a:xfrm>
            <a:off x="10149840" y="2889504"/>
            <a:ext cx="1280160" cy="320040"/>
          </a:xfrm>
          <a:prstGeom prst="rect">
            <a:avLst/>
          </a:prstGeom>
          <a:noFill/>
          <a:ln/>
        </p:spPr>
        <p:txBody>
          <a:bodyPr wrap="square" lIns="0" tIns="0" rIns="0" bIns="0" rtlCol="0" anchor="ctr"/>
          <a:lstStyle/>
          <a:p>
            <a:pPr algn="r" indent="0" marL="0">
              <a:buNone/>
            </a:pPr>
            <a:r>
              <a:rPr lang="en-US" sz="1300" b="1" dirty="0">
                <a:solidFill>
                  <a:srgbClr val="1A7A52"/>
                </a:solidFill>
                <a:latin typeface="Calibri" pitchFamily="34" charset="0"/>
                <a:ea typeface="Calibri" pitchFamily="34" charset="-122"/>
                <a:cs typeface="Calibri" pitchFamily="34" charset="-120"/>
              </a:rPr>
              <a:t>PASS</a:t>
            </a:r>
            <a:endParaRPr lang="en-US" sz="1300" dirty="0"/>
          </a:p>
        </p:txBody>
      </p:sp>
      <p:sp>
        <p:nvSpPr>
          <p:cNvPr id="30" name="Text 27"/>
          <p:cNvSpPr/>
          <p:nvPr/>
        </p:nvSpPr>
        <p:spPr>
          <a:xfrm>
            <a:off x="8119872" y="3749040"/>
            <a:ext cx="1005840" cy="411480"/>
          </a:xfrm>
          <a:prstGeom prst="rect">
            <a:avLst/>
          </a:prstGeom>
          <a:noFill/>
          <a:ln/>
        </p:spPr>
        <p:txBody>
          <a:bodyPr wrap="square" lIns="0" tIns="0" rIns="0" bIns="0" rtlCol="0" anchor="ctr"/>
          <a:lstStyle/>
          <a:p>
            <a:pPr indent="0" marL="0">
              <a:buNone/>
            </a:pPr>
            <a:r>
              <a:rPr lang="en-US" sz="2400" b="1" dirty="0">
                <a:solidFill>
                  <a:srgbClr val="6B4A00"/>
                </a:solidFill>
                <a:latin typeface="Cambria" pitchFamily="34" charset="0"/>
                <a:ea typeface="Cambria" pitchFamily="34" charset="-122"/>
                <a:cs typeface="Cambria" pitchFamily="34" charset="-120"/>
              </a:rPr>
              <a:t>63.2</a:t>
            </a:r>
            <a:endParaRPr lang="en-US" sz="2400" dirty="0"/>
          </a:p>
        </p:txBody>
      </p:sp>
      <p:sp>
        <p:nvSpPr>
          <p:cNvPr id="31" name="Text 28"/>
          <p:cNvSpPr/>
          <p:nvPr/>
        </p:nvSpPr>
        <p:spPr>
          <a:xfrm>
            <a:off x="8119872" y="4160520"/>
            <a:ext cx="2011680" cy="274320"/>
          </a:xfrm>
          <a:prstGeom prst="rect">
            <a:avLst/>
          </a:prstGeom>
          <a:noFill/>
          <a:ln/>
        </p:spPr>
        <p:txBody>
          <a:bodyPr wrap="square" lIns="0" tIns="0" rIns="0" bIns="0" rtlCol="0" anchor="ctr"/>
          <a:lstStyle/>
          <a:p>
            <a:pPr indent="0" marL="0">
              <a:buNone/>
            </a:pPr>
            <a:r>
              <a:rPr lang="en-US" sz="1050" dirty="0">
                <a:solidFill>
                  <a:srgbClr val="8A5D00"/>
                </a:solidFill>
                <a:latin typeface="Calibri" pitchFamily="34" charset="0"/>
                <a:ea typeface="Calibri" pitchFamily="34" charset="-122"/>
                <a:cs typeface="Calibri" pitchFamily="34" charset="-120"/>
              </a:rPr>
              <a:t>calibrated on the kurti</a:t>
            </a:r>
            <a:endParaRPr lang="en-US" sz="1050" dirty="0"/>
          </a:p>
        </p:txBody>
      </p:sp>
      <p:sp>
        <p:nvSpPr>
          <p:cNvPr id="32" name="Text 29"/>
          <p:cNvSpPr/>
          <p:nvPr/>
        </p:nvSpPr>
        <p:spPr>
          <a:xfrm>
            <a:off x="10149840" y="3803904"/>
            <a:ext cx="1280160" cy="320040"/>
          </a:xfrm>
          <a:prstGeom prst="rect">
            <a:avLst/>
          </a:prstGeom>
          <a:noFill/>
          <a:ln/>
        </p:spPr>
        <p:txBody>
          <a:bodyPr wrap="square" lIns="0" tIns="0" rIns="0" bIns="0" rtlCol="0" anchor="ctr"/>
          <a:lstStyle/>
          <a:p>
            <a:pPr algn="r" indent="0" marL="0">
              <a:buNone/>
            </a:pPr>
            <a:r>
              <a:rPr lang="en-US" sz="1300" b="1" dirty="0">
                <a:solidFill>
                  <a:srgbClr val="A8342A"/>
                </a:solidFill>
                <a:latin typeface="Calibri" pitchFamily="34" charset="0"/>
                <a:ea typeface="Calibri" pitchFamily="34" charset="-122"/>
                <a:cs typeface="Calibri" pitchFamily="34" charset="-120"/>
              </a:rPr>
              <a:t>REJECT</a:t>
            </a:r>
            <a:endParaRPr lang="en-US" sz="1300" dirty="0"/>
          </a:p>
        </p:txBody>
      </p:sp>
      <p:sp>
        <p:nvSpPr>
          <p:cNvPr id="33" name="Text 30"/>
          <p:cNvSpPr/>
          <p:nvPr/>
        </p:nvSpPr>
        <p:spPr>
          <a:xfrm>
            <a:off x="8119872" y="4709160"/>
            <a:ext cx="3291840" cy="1234440"/>
          </a:xfrm>
          <a:prstGeom prst="rect">
            <a:avLst/>
          </a:prstGeom>
          <a:noFill/>
          <a:ln/>
        </p:spPr>
        <p:txBody>
          <a:bodyPr wrap="square" lIns="0" tIns="0" rIns="0" bIns="0" rtlCol="0" anchor="ctr"/>
          <a:lstStyle/>
          <a:p>
            <a:pPr indent="0" marL="0">
              <a:lnSpc>
                <a:spcPts val="1350"/>
              </a:lnSpc>
              <a:buNone/>
            </a:pPr>
            <a:r>
              <a:rPr lang="en-US" sz="1050" dirty="0">
                <a:solidFill>
                  <a:srgbClr val="6B4A00"/>
                </a:solidFill>
                <a:latin typeface="Calibri" pitchFamily="34" charset="0"/>
                <a:ea typeface="Calibri" pitchFamily="34" charset="-122"/>
                <a:cs typeface="Calibri" pitchFamily="34" charset="-120"/>
              </a:rPr>
              <a:t>Same clip, 55.04, opposite verdicts. The kurti is mostly white, so a 10° hue shift costs it only 6.3 points against the saree's 23.9 — its floor is legitimately higher.</a:t>
            </a:r>
            <a:endParaRPr lang="en-US" sz="1050" dirty="0"/>
          </a:p>
          <a:p>
            <a:pPr indent="0" marL="0">
              <a:lnSpc>
                <a:spcPts val="1350"/>
              </a:lnSpc>
              <a:buNone/>
            </a:pPr>
            <a:endParaRPr lang="en-US" sz="1050" dirty="0"/>
          </a:p>
          <a:p>
            <a:pPr indent="0" marL="0">
              <a:lnSpc>
                <a:spcPts val="1350"/>
              </a:lnSpc>
              <a:buNone/>
            </a:pPr>
            <a:r>
              <a:rPr lang="en-US" sz="1050" dirty="0">
                <a:solidFill>
                  <a:srgbClr val="6B4A00"/>
                </a:solidFill>
                <a:latin typeface="Calibri" pitchFamily="34" charset="0"/>
                <a:ea typeface="Calibri" pitchFamily="34" charset="-122"/>
                <a:cs typeface="Calibri" pitchFamily="34" charset="-120"/>
              </a:rPr>
              <a:t>The pass mark is a property of the product, not of the system. We report this rather than quietly correcting it.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160" kern="0" dirty="0">
                <a:solidFill>
                  <a:srgbClr val="0E7D8C"/>
                </a:solidFill>
                <a:latin typeface="Calibri" pitchFamily="34" charset="0"/>
                <a:ea typeface="Calibri" pitchFamily="34" charset="-122"/>
                <a:cs typeface="Calibri" pitchFamily="34" charset="-120"/>
              </a:rPr>
              <a:t>HONESTY</a:t>
            </a:r>
            <a:endParaRPr lang="en-US" sz="1100" dirty="0"/>
          </a:p>
        </p:txBody>
      </p:sp>
      <p:sp>
        <p:nvSpPr>
          <p:cNvPr id="3" name="Text 1"/>
          <p:cNvSpPr/>
          <p:nvPr/>
        </p:nvSpPr>
        <p:spPr>
          <a:xfrm>
            <a:off x="566928" y="640080"/>
            <a:ext cx="11027664" cy="566928"/>
          </a:xfrm>
          <a:prstGeom prst="rect">
            <a:avLst/>
          </a:prstGeom>
          <a:noFill/>
          <a:ln/>
        </p:spPr>
        <p:txBody>
          <a:bodyPr wrap="square" lIns="0" tIns="0" rIns="0" bIns="0" rtlCol="0" anchor="ctr"/>
          <a:lstStyle/>
          <a:p>
            <a:pPr indent="0" marL="0">
              <a:buNone/>
            </a:pPr>
            <a:r>
              <a:rPr lang="en-US" sz="3000" b="1" dirty="0">
                <a:solidFill>
                  <a:srgbClr val="131A1F"/>
                </a:solidFill>
                <a:latin typeface="Cambria" pitchFamily="34" charset="0"/>
                <a:ea typeface="Cambria" pitchFamily="34" charset="-122"/>
                <a:cs typeface="Cambria" pitchFamily="34" charset="-120"/>
              </a:rPr>
              <a:t>What we have not tested</a:t>
            </a:r>
            <a:endParaRPr lang="en-US" sz="3000" dirty="0"/>
          </a:p>
        </p:txBody>
      </p:sp>
      <p:sp>
        <p:nvSpPr>
          <p:cNvPr id="4" name="Text 2"/>
          <p:cNvSpPr/>
          <p:nvPr/>
        </p:nvSpPr>
        <p:spPr>
          <a:xfrm>
            <a:off x="566928" y="1371600"/>
            <a:ext cx="7772400" cy="365760"/>
          </a:xfrm>
          <a:prstGeom prst="rect">
            <a:avLst/>
          </a:prstGeom>
          <a:noFill/>
          <a:ln/>
        </p:spPr>
        <p:txBody>
          <a:bodyPr wrap="square" lIns="0" tIns="0" rIns="0" bIns="0" rtlCol="0" anchor="ctr"/>
          <a:lstStyle/>
          <a:p>
            <a:pPr indent="0" marL="0">
              <a:buNone/>
            </a:pPr>
            <a:r>
              <a:rPr lang="en-US" sz="1350" dirty="0">
                <a:solidFill>
                  <a:srgbClr val="6A7B87"/>
                </a:solidFill>
                <a:latin typeface="Calibri" pitchFamily="34" charset="0"/>
                <a:ea typeface="Calibri" pitchFamily="34" charset="-122"/>
                <a:cs typeface="Calibri" pitchFamily="34" charset="-120"/>
              </a:rPr>
              <a:t>Stating these is not a weakness in the submission — every one of them is a claim we refused to make.</a:t>
            </a:r>
            <a:endParaRPr lang="en-US" sz="1350" dirty="0"/>
          </a:p>
        </p:txBody>
      </p:sp>
      <p:sp>
        <p:nvSpPr>
          <p:cNvPr id="5" name="Shape 3"/>
          <p:cNvSpPr/>
          <p:nvPr/>
        </p:nvSpPr>
        <p:spPr>
          <a:xfrm>
            <a:off x="566928" y="1965960"/>
            <a:ext cx="5349240" cy="1170432"/>
          </a:xfrm>
          <a:prstGeom prst="roundRect">
            <a:avLst>
              <a:gd name="adj" fmla="val 3906"/>
            </a:avLst>
          </a:prstGeom>
          <a:solidFill>
            <a:srgbClr val="F4F1EC"/>
          </a:solidFill>
          <a:ln w="9525">
            <a:solidFill>
              <a:srgbClr val="E1E6E9"/>
            </a:solidFill>
            <a:prstDash val="solid"/>
          </a:ln>
        </p:spPr>
      </p:sp>
      <p:sp>
        <p:nvSpPr>
          <p:cNvPr id="6" name="Text 4"/>
          <p:cNvSpPr/>
          <p:nvPr/>
        </p:nvSpPr>
        <p:spPr>
          <a:xfrm>
            <a:off x="795528" y="21214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Two product types only</a:t>
            </a:r>
            <a:endParaRPr lang="en-US" sz="1300" dirty="0"/>
          </a:p>
        </p:txBody>
      </p:sp>
      <p:sp>
        <p:nvSpPr>
          <p:cNvPr id="7" name="Text 5"/>
          <p:cNvSpPr/>
          <p:nvPr/>
        </p:nvSpPr>
        <p:spPr>
          <a:xfrm>
            <a:off x="795528" y="24414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Saree and kurti on real video. Lehenga, dress and shirt are supported in code but untested.</a:t>
            </a:r>
            <a:endParaRPr lang="en-US" sz="1100" dirty="0"/>
          </a:p>
        </p:txBody>
      </p:sp>
      <p:sp>
        <p:nvSpPr>
          <p:cNvPr id="8" name="Shape 6"/>
          <p:cNvSpPr/>
          <p:nvPr/>
        </p:nvSpPr>
        <p:spPr>
          <a:xfrm>
            <a:off x="6236208" y="1965960"/>
            <a:ext cx="5349240" cy="1170432"/>
          </a:xfrm>
          <a:prstGeom prst="roundRect">
            <a:avLst>
              <a:gd name="adj" fmla="val 3906"/>
            </a:avLst>
          </a:prstGeom>
          <a:solidFill>
            <a:srgbClr val="F4F1EC"/>
          </a:solidFill>
          <a:ln w="9525">
            <a:solidFill>
              <a:srgbClr val="E1E6E9"/>
            </a:solidFill>
            <a:prstDash val="solid"/>
          </a:ln>
        </p:spPr>
      </p:sp>
      <p:sp>
        <p:nvSpPr>
          <p:cNvPr id="9" name="Text 7"/>
          <p:cNvSpPr/>
          <p:nvPr/>
        </p:nvSpPr>
        <p:spPr>
          <a:xfrm>
            <a:off x="6464808" y="21214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Gate 2 never rejected anything</a:t>
            </a:r>
            <a:endParaRPr lang="en-US" sz="1300" dirty="0"/>
          </a:p>
        </p:txBody>
      </p:sp>
      <p:sp>
        <p:nvSpPr>
          <p:cNvPr id="10" name="Text 8"/>
          <p:cNvSpPr/>
          <p:nvPr/>
        </p:nvSpPr>
        <p:spPr>
          <a:xfrm>
            <a:off x="6464808" y="24414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The passing pool has always been smaller than the number of ads requested.</a:t>
            </a:r>
            <a:endParaRPr lang="en-US" sz="1100" dirty="0"/>
          </a:p>
        </p:txBody>
      </p:sp>
      <p:sp>
        <p:nvSpPr>
          <p:cNvPr id="11" name="Shape 9"/>
          <p:cNvSpPr/>
          <p:nvPr/>
        </p:nvSpPr>
        <p:spPr>
          <a:xfrm>
            <a:off x="566928" y="3337560"/>
            <a:ext cx="5349240" cy="1170432"/>
          </a:xfrm>
          <a:prstGeom prst="roundRect">
            <a:avLst>
              <a:gd name="adj" fmla="val 3906"/>
            </a:avLst>
          </a:prstGeom>
          <a:solidFill>
            <a:srgbClr val="F4F1EC"/>
          </a:solidFill>
          <a:ln w="9525">
            <a:solidFill>
              <a:srgbClr val="E1E6E9"/>
            </a:solidFill>
            <a:prstDash val="solid"/>
          </a:ln>
        </p:spPr>
      </p:sp>
      <p:sp>
        <p:nvSpPr>
          <p:cNvPr id="12" name="Text 10"/>
          <p:cNvSpPr/>
          <p:nvPr/>
        </p:nvSpPr>
        <p:spPr>
          <a:xfrm>
            <a:off x="795528" y="34930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Safe Cut never fired on real footage</a:t>
            </a:r>
            <a:endParaRPr lang="en-US" sz="1300" dirty="0"/>
          </a:p>
        </p:txBody>
      </p:sp>
      <p:sp>
        <p:nvSpPr>
          <p:cNvPr id="13" name="Text 11"/>
          <p:cNvSpPr/>
          <p:nvPr/>
        </p:nvSpPr>
        <p:spPr>
          <a:xfrm>
            <a:off x="795528" y="38130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Covered by 5 unit tests; no real clip has met the conditions for a trim.</a:t>
            </a:r>
            <a:endParaRPr lang="en-US" sz="1100" dirty="0"/>
          </a:p>
        </p:txBody>
      </p:sp>
      <p:sp>
        <p:nvSpPr>
          <p:cNvPr id="14" name="Shape 12"/>
          <p:cNvSpPr/>
          <p:nvPr/>
        </p:nvSpPr>
        <p:spPr>
          <a:xfrm>
            <a:off x="6236208" y="3337560"/>
            <a:ext cx="5349240" cy="1170432"/>
          </a:xfrm>
          <a:prstGeom prst="roundRect">
            <a:avLst>
              <a:gd name="adj" fmla="val 3906"/>
            </a:avLst>
          </a:prstGeom>
          <a:solidFill>
            <a:srgbClr val="F4F1EC"/>
          </a:solidFill>
          <a:ln w="9525">
            <a:solidFill>
              <a:srgbClr val="E1E6E9"/>
            </a:solidFill>
            <a:prstDash val="solid"/>
          </a:ln>
        </p:spPr>
      </p:sp>
      <p:sp>
        <p:nvSpPr>
          <p:cNvPr id="15" name="Text 13"/>
          <p:cNvSpPr/>
          <p:nvPr/>
        </p:nvSpPr>
        <p:spPr>
          <a:xfrm>
            <a:off x="6464808" y="34930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No human ground truth</a:t>
            </a:r>
            <a:endParaRPr lang="en-US" sz="1300" dirty="0"/>
          </a:p>
        </p:txBody>
      </p:sp>
      <p:sp>
        <p:nvSpPr>
          <p:cNvPr id="16" name="Text 14"/>
          <p:cNvSpPr/>
          <p:nvPr/>
        </p:nvSpPr>
        <p:spPr>
          <a:xfrm>
            <a:off x="6464808" y="38130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The Fidelity Score has not been validated against human judgement of sameness.</a:t>
            </a:r>
            <a:endParaRPr lang="en-US" sz="1100" dirty="0"/>
          </a:p>
        </p:txBody>
      </p:sp>
      <p:sp>
        <p:nvSpPr>
          <p:cNvPr id="17" name="Shape 15"/>
          <p:cNvSpPr/>
          <p:nvPr/>
        </p:nvSpPr>
        <p:spPr>
          <a:xfrm>
            <a:off x="566928" y="4709160"/>
            <a:ext cx="5349240" cy="1170432"/>
          </a:xfrm>
          <a:prstGeom prst="roundRect">
            <a:avLst>
              <a:gd name="adj" fmla="val 3906"/>
            </a:avLst>
          </a:prstGeom>
          <a:solidFill>
            <a:srgbClr val="F4F1EC"/>
          </a:solidFill>
          <a:ln w="9525">
            <a:solidFill>
              <a:srgbClr val="E1E6E9"/>
            </a:solidFill>
            <a:prstDash val="solid"/>
          </a:ln>
        </p:spPr>
      </p:sp>
      <p:sp>
        <p:nvSpPr>
          <p:cNvPr id="18" name="Text 16"/>
          <p:cNvSpPr/>
          <p:nvPr/>
        </p:nvSpPr>
        <p:spPr>
          <a:xfrm>
            <a:off x="795528" y="48646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Small calibration samples</a:t>
            </a:r>
            <a:endParaRPr lang="en-US" sz="1300" dirty="0"/>
          </a:p>
        </p:txBody>
      </p:sp>
      <p:sp>
        <p:nvSpPr>
          <p:cNvPr id="19" name="Text 17"/>
          <p:cNvSpPr/>
          <p:nvPr/>
        </p:nvSpPr>
        <p:spPr>
          <a:xfrm>
            <a:off x="795528" y="51846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4 saree clips, 1 kurti clip, plus controlled degradation anchors.</a:t>
            </a:r>
            <a:endParaRPr lang="en-US" sz="1100" dirty="0"/>
          </a:p>
        </p:txBody>
      </p:sp>
      <p:sp>
        <p:nvSpPr>
          <p:cNvPr id="20" name="Shape 18"/>
          <p:cNvSpPr/>
          <p:nvPr/>
        </p:nvSpPr>
        <p:spPr>
          <a:xfrm>
            <a:off x="6236208" y="4709160"/>
            <a:ext cx="5349240" cy="1170432"/>
          </a:xfrm>
          <a:prstGeom prst="roundRect">
            <a:avLst>
              <a:gd name="adj" fmla="val 3906"/>
            </a:avLst>
          </a:prstGeom>
          <a:solidFill>
            <a:srgbClr val="F4F1EC"/>
          </a:solidFill>
          <a:ln w="9525">
            <a:solidFill>
              <a:srgbClr val="E1E6E9"/>
            </a:solidFill>
            <a:prstDash val="solid"/>
          </a:ln>
        </p:spPr>
      </p:sp>
      <p:sp>
        <p:nvSpPr>
          <p:cNvPr id="21" name="Text 19"/>
          <p:cNvSpPr/>
          <p:nvPr/>
        </p:nvSpPr>
        <p:spPr>
          <a:xfrm>
            <a:off x="6464808" y="4864608"/>
            <a:ext cx="4892040" cy="292608"/>
          </a:xfrm>
          <a:prstGeom prst="rect">
            <a:avLst/>
          </a:prstGeom>
          <a:noFill/>
          <a:ln/>
        </p:spPr>
        <p:txBody>
          <a:bodyPr wrap="square" lIns="0" tIns="0" rIns="0" bIns="0" rtlCol="0" anchor="ctr"/>
          <a:lstStyle/>
          <a:p>
            <a:pPr indent="0" marL="0">
              <a:buNone/>
            </a:pPr>
            <a:r>
              <a:rPr lang="en-US" sz="1300" b="1" dirty="0">
                <a:solidFill>
                  <a:srgbClr val="131A1F"/>
                </a:solidFill>
                <a:latin typeface="Calibri" pitchFamily="34" charset="0"/>
                <a:ea typeface="Calibri" pitchFamily="34" charset="-122"/>
                <a:cs typeface="Calibri" pitchFamily="34" charset="-120"/>
              </a:rPr>
              <a:t>Segmentation is a heuristic</a:t>
            </a:r>
            <a:endParaRPr lang="en-US" sz="1300" dirty="0"/>
          </a:p>
        </p:txBody>
      </p:sp>
      <p:sp>
        <p:nvSpPr>
          <p:cNvPr id="22" name="Text 20"/>
          <p:cNvSpPr/>
          <p:nvPr/>
        </p:nvSpPr>
        <p:spPr>
          <a:xfrm>
            <a:off x="6464808" y="5184648"/>
            <a:ext cx="4892040" cy="594360"/>
          </a:xfrm>
          <a:prstGeom prst="rect">
            <a:avLst/>
          </a:prstGeom>
          <a:noFill/>
          <a:ln/>
        </p:spPr>
        <p:txBody>
          <a:bodyPr wrap="square" lIns="0" tIns="0" rIns="0" bIns="0" rtlCol="0" anchor="ctr"/>
          <a:lstStyle/>
          <a:p>
            <a:pPr indent="0" marL="0">
              <a:lnSpc>
                <a:spcPts val="1400"/>
              </a:lnSpc>
              <a:buNone/>
            </a:pPr>
            <a:r>
              <a:rPr lang="en-US" sz="1100" dirty="0">
                <a:solidFill>
                  <a:srgbClr val="6A7B87"/>
                </a:solidFill>
                <a:latin typeface="Calibri" pitchFamily="34" charset="0"/>
                <a:ea typeface="Calibri" pitchFamily="34" charset="-122"/>
                <a:cs typeface="Calibri" pitchFamily="34" charset="-120"/>
              </a:rPr>
              <a:t>Not a trained garment segmenter; it keeps accessories such as the kurti model's handbag.</a:t>
            </a:r>
            <a:endParaRPr lang="en-US" sz="1100" dirty="0"/>
          </a:p>
        </p:txBody>
      </p:sp>
      <p:sp>
        <p:nvSpPr>
          <p:cNvPr id="23" name="Text 21"/>
          <p:cNvSpPr/>
          <p:nvPr/>
        </p:nvSpPr>
        <p:spPr>
          <a:xfrm>
            <a:off x="566928" y="6172200"/>
            <a:ext cx="11027664" cy="365760"/>
          </a:xfrm>
          <a:prstGeom prst="rect">
            <a:avLst/>
          </a:prstGeom>
          <a:noFill/>
          <a:ln/>
        </p:spPr>
        <p:txBody>
          <a:bodyPr wrap="square" lIns="0" tIns="0" rIns="0" bIns="0" rtlCol="0" anchor="ctr"/>
          <a:lstStyle/>
          <a:p>
            <a:pPr indent="0" marL="0">
              <a:buNone/>
            </a:pPr>
            <a:r>
              <a:rPr lang="en-US" sz="1150" i="1" dirty="0">
                <a:solidFill>
                  <a:srgbClr val="2B3A44"/>
                </a:solidFill>
                <a:latin typeface="Calibri" pitchFamily="34" charset="0"/>
                <a:ea typeface="Calibri" pitchFamily="34" charset="-122"/>
                <a:cs typeface="Calibri" pitchFamily="34" charset="-120"/>
              </a:rPr>
              <a:t>We also corrected two of our own errors mid-project: a weave metric that returned ~0.0001 for every frame, and an 8× speed-up claim that was really 1.15×.</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A1F"/>
        </a:solidFill>
      </p:bgPr>
    </p:bg>
    <p:spTree>
      <p:nvGrpSpPr>
        <p:cNvPr id="1" name=""/>
        <p:cNvGrpSpPr/>
        <p:nvPr/>
      </p:nvGrpSpPr>
      <p:grpSpPr>
        <a:xfrm>
          <a:off x="0" y="0"/>
          <a:ext cx="0" cy="0"/>
          <a:chOff x="0" y="0"/>
          <a:chExt cx="0" cy="0"/>
        </a:xfrm>
      </p:grpSpPr>
      <p:sp>
        <p:nvSpPr>
          <p:cNvPr id="2" name="Text 0"/>
          <p:cNvSpPr/>
          <p:nvPr/>
        </p:nvSpPr>
        <p:spPr>
          <a:xfrm>
            <a:off x="566928" y="685800"/>
            <a:ext cx="7315200" cy="365760"/>
          </a:xfrm>
          <a:prstGeom prst="rect">
            <a:avLst/>
          </a:prstGeom>
          <a:noFill/>
          <a:ln/>
        </p:spPr>
        <p:txBody>
          <a:bodyPr wrap="square" lIns="0" tIns="0" rIns="0" bIns="0" rtlCol="0" anchor="ctr"/>
          <a:lstStyle/>
          <a:p>
            <a:pPr indent="0" marL="0">
              <a:buNone/>
            </a:pPr>
            <a:r>
              <a:rPr lang="en-US" sz="1200" b="1" spc="160" kern="0" dirty="0">
                <a:solidFill>
                  <a:srgbClr val="0E7D8C"/>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566928" y="1097280"/>
            <a:ext cx="10515600" cy="1234440"/>
          </a:xfrm>
          <a:prstGeom prst="rect">
            <a:avLst/>
          </a:prstGeom>
          <a:noFill/>
          <a:ln/>
        </p:spPr>
        <p:txBody>
          <a:bodyPr wrap="square" lIns="0" tIns="0" rIns="0" bIns="0" rtlCol="0" anchor="ctr"/>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A generator can't tell you when it broke your product.</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This can.</a:t>
            </a:r>
            <a:endParaRPr lang="en-US" sz="3200" dirty="0"/>
          </a:p>
        </p:txBody>
      </p:sp>
      <p:sp>
        <p:nvSpPr>
          <p:cNvPr id="4" name="Text 2"/>
          <p:cNvSpPr/>
          <p:nvPr/>
        </p:nvSpPr>
        <p:spPr>
          <a:xfrm>
            <a:off x="566928" y="2697480"/>
            <a:ext cx="2560320" cy="685800"/>
          </a:xfrm>
          <a:prstGeom prst="rect">
            <a:avLst/>
          </a:prstGeom>
          <a:noFill/>
          <a:ln/>
        </p:spPr>
        <p:txBody>
          <a:bodyPr wrap="square" lIns="0" tIns="0" rIns="0" bIns="0" rtlCol="0" anchor="ctr"/>
          <a:lstStyle/>
          <a:p>
            <a:pPr indent="0" marL="0">
              <a:buNone/>
            </a:pPr>
            <a:r>
              <a:rPr lang="en-US" sz="4000" b="1" dirty="0">
                <a:solidFill>
                  <a:srgbClr val="7FC3CE"/>
                </a:solidFill>
                <a:latin typeface="Cambria" pitchFamily="34" charset="0"/>
                <a:ea typeface="Cambria" pitchFamily="34" charset="-122"/>
                <a:cs typeface="Cambria" pitchFamily="34" charset="-120"/>
              </a:rPr>
              <a:t>11</a:t>
            </a:r>
            <a:endParaRPr lang="en-US" sz="4000" dirty="0"/>
          </a:p>
        </p:txBody>
      </p:sp>
      <p:sp>
        <p:nvSpPr>
          <p:cNvPr id="5" name="Text 3"/>
          <p:cNvSpPr/>
          <p:nvPr/>
        </p:nvSpPr>
        <p:spPr>
          <a:xfrm>
            <a:off x="566928" y="3401568"/>
            <a:ext cx="2560320" cy="548640"/>
          </a:xfrm>
          <a:prstGeom prst="rect">
            <a:avLst/>
          </a:prstGeom>
          <a:noFill/>
          <a:ln/>
        </p:spPr>
        <p:txBody>
          <a:bodyPr wrap="square" lIns="0" tIns="0" rIns="0" bIns="0" rtlCol="0" anchor="ctr"/>
          <a:lstStyle/>
          <a:p>
            <a:pPr indent="0" marL="0">
              <a:lnSpc>
                <a:spcPts val="1600"/>
              </a:lnSpc>
              <a:buNone/>
            </a:pPr>
            <a:r>
              <a:rPr lang="en-US" sz="1200" dirty="0">
                <a:solidFill>
                  <a:srgbClr val="9FB3BD"/>
                </a:solidFill>
                <a:latin typeface="Calibri" pitchFamily="34" charset="0"/>
                <a:ea typeface="Calibri" pitchFamily="34" charset="-122"/>
                <a:cs typeface="Calibri" pitchFamily="34" charset="-120"/>
              </a:rPr>
              <a:t>quality checks run on every video</a:t>
            </a:r>
            <a:endParaRPr lang="en-US" sz="1200" dirty="0"/>
          </a:p>
        </p:txBody>
      </p:sp>
      <p:sp>
        <p:nvSpPr>
          <p:cNvPr id="6" name="Text 4"/>
          <p:cNvSpPr/>
          <p:nvPr/>
        </p:nvSpPr>
        <p:spPr>
          <a:xfrm>
            <a:off x="3355848" y="2697480"/>
            <a:ext cx="2560320" cy="685800"/>
          </a:xfrm>
          <a:prstGeom prst="rect">
            <a:avLst/>
          </a:prstGeom>
          <a:noFill/>
          <a:ln/>
        </p:spPr>
        <p:txBody>
          <a:bodyPr wrap="square" lIns="0" tIns="0" rIns="0" bIns="0" rtlCol="0" anchor="ctr"/>
          <a:lstStyle/>
          <a:p>
            <a:pPr indent="0" marL="0">
              <a:buNone/>
            </a:pPr>
            <a:r>
              <a:rPr lang="en-US" sz="4000" b="1" dirty="0">
                <a:solidFill>
                  <a:srgbClr val="7FC3CE"/>
                </a:solidFill>
                <a:latin typeface="Cambria" pitchFamily="34" charset="0"/>
                <a:ea typeface="Cambria" pitchFamily="34" charset="-122"/>
                <a:cs typeface="Cambria" pitchFamily="34" charset="-120"/>
              </a:rPr>
              <a:t>2</a:t>
            </a:r>
            <a:endParaRPr lang="en-US" sz="4000" dirty="0"/>
          </a:p>
        </p:txBody>
      </p:sp>
      <p:sp>
        <p:nvSpPr>
          <p:cNvPr id="7" name="Text 5"/>
          <p:cNvSpPr/>
          <p:nvPr/>
        </p:nvSpPr>
        <p:spPr>
          <a:xfrm>
            <a:off x="3355848" y="3401568"/>
            <a:ext cx="2560320" cy="548640"/>
          </a:xfrm>
          <a:prstGeom prst="rect">
            <a:avLst/>
          </a:prstGeom>
          <a:noFill/>
          <a:ln/>
        </p:spPr>
        <p:txBody>
          <a:bodyPr wrap="square" lIns="0" tIns="0" rIns="0" bIns="0" rtlCol="0" anchor="ctr"/>
          <a:lstStyle/>
          <a:p>
            <a:pPr indent="0" marL="0">
              <a:lnSpc>
                <a:spcPts val="1600"/>
              </a:lnSpc>
              <a:buNone/>
            </a:pPr>
            <a:r>
              <a:rPr lang="en-US" sz="1200" dirty="0">
                <a:solidFill>
                  <a:srgbClr val="9FB3BD"/>
                </a:solidFill>
                <a:latin typeface="Calibri" pitchFamily="34" charset="0"/>
                <a:ea typeface="Calibri" pitchFamily="34" charset="-122"/>
                <a:cs typeface="Calibri" pitchFamily="34" charset="-120"/>
              </a:rPr>
              <a:t>independent gates before anything ships</a:t>
            </a:r>
            <a:endParaRPr lang="en-US" sz="1200" dirty="0"/>
          </a:p>
        </p:txBody>
      </p:sp>
      <p:sp>
        <p:nvSpPr>
          <p:cNvPr id="8" name="Text 6"/>
          <p:cNvSpPr/>
          <p:nvPr/>
        </p:nvSpPr>
        <p:spPr>
          <a:xfrm>
            <a:off x="6144768" y="2697480"/>
            <a:ext cx="2560320" cy="685800"/>
          </a:xfrm>
          <a:prstGeom prst="rect">
            <a:avLst/>
          </a:prstGeom>
          <a:noFill/>
          <a:ln/>
        </p:spPr>
        <p:txBody>
          <a:bodyPr wrap="square" lIns="0" tIns="0" rIns="0" bIns="0" rtlCol="0" anchor="ctr"/>
          <a:lstStyle/>
          <a:p>
            <a:pPr indent="0" marL="0">
              <a:buNone/>
            </a:pPr>
            <a:r>
              <a:rPr lang="en-US" sz="4000" b="1" dirty="0">
                <a:solidFill>
                  <a:srgbClr val="7FC3CE"/>
                </a:solidFill>
                <a:latin typeface="Cambria" pitchFamily="34" charset="0"/>
                <a:ea typeface="Cambria" pitchFamily="34" charset="-122"/>
                <a:cs typeface="Cambria" pitchFamily="34" charset="-120"/>
              </a:rPr>
              <a:t>4 + 1</a:t>
            </a:r>
            <a:endParaRPr lang="en-US" sz="4000" dirty="0"/>
          </a:p>
        </p:txBody>
      </p:sp>
      <p:sp>
        <p:nvSpPr>
          <p:cNvPr id="9" name="Text 7"/>
          <p:cNvSpPr/>
          <p:nvPr/>
        </p:nvSpPr>
        <p:spPr>
          <a:xfrm>
            <a:off x="6144768" y="3401568"/>
            <a:ext cx="2560320" cy="548640"/>
          </a:xfrm>
          <a:prstGeom prst="rect">
            <a:avLst/>
          </a:prstGeom>
          <a:noFill/>
          <a:ln/>
        </p:spPr>
        <p:txBody>
          <a:bodyPr wrap="square" lIns="0" tIns="0" rIns="0" bIns="0" rtlCol="0" anchor="ctr"/>
          <a:lstStyle/>
          <a:p>
            <a:pPr indent="0" marL="0">
              <a:lnSpc>
                <a:spcPts val="1600"/>
              </a:lnSpc>
              <a:buNone/>
            </a:pPr>
            <a:r>
              <a:rPr lang="en-US" sz="1200" dirty="0">
                <a:solidFill>
                  <a:srgbClr val="9FB3BD"/>
                </a:solidFill>
                <a:latin typeface="Calibri" pitchFamily="34" charset="0"/>
                <a:ea typeface="Calibri" pitchFamily="34" charset="-122"/>
                <a:cs typeface="Calibri" pitchFamily="34" charset="-120"/>
              </a:rPr>
              <a:t>real videos scored across two products</a:t>
            </a:r>
            <a:endParaRPr lang="en-US" sz="1200" dirty="0"/>
          </a:p>
        </p:txBody>
      </p:sp>
      <p:sp>
        <p:nvSpPr>
          <p:cNvPr id="10" name="Text 8"/>
          <p:cNvSpPr/>
          <p:nvPr/>
        </p:nvSpPr>
        <p:spPr>
          <a:xfrm>
            <a:off x="8933688" y="2697480"/>
            <a:ext cx="2560320" cy="685800"/>
          </a:xfrm>
          <a:prstGeom prst="rect">
            <a:avLst/>
          </a:prstGeom>
          <a:noFill/>
          <a:ln/>
        </p:spPr>
        <p:txBody>
          <a:bodyPr wrap="square" lIns="0" tIns="0" rIns="0" bIns="0" rtlCol="0" anchor="ctr"/>
          <a:lstStyle/>
          <a:p>
            <a:pPr indent="0" marL="0">
              <a:buNone/>
            </a:pPr>
            <a:r>
              <a:rPr lang="en-US" sz="4000" b="1" dirty="0">
                <a:solidFill>
                  <a:srgbClr val="7FC3CE"/>
                </a:solidFill>
                <a:latin typeface="Cambria" pitchFamily="34" charset="0"/>
                <a:ea typeface="Cambria" pitchFamily="34" charset="-122"/>
                <a:cs typeface="Cambria" pitchFamily="34" charset="-120"/>
              </a:rPr>
              <a:t>3</a:t>
            </a:r>
            <a:endParaRPr lang="en-US" sz="4000" dirty="0"/>
          </a:p>
        </p:txBody>
      </p:sp>
      <p:sp>
        <p:nvSpPr>
          <p:cNvPr id="11" name="Text 9"/>
          <p:cNvSpPr/>
          <p:nvPr/>
        </p:nvSpPr>
        <p:spPr>
          <a:xfrm>
            <a:off x="8933688" y="3401568"/>
            <a:ext cx="2560320" cy="548640"/>
          </a:xfrm>
          <a:prstGeom prst="rect">
            <a:avLst/>
          </a:prstGeom>
          <a:noFill/>
          <a:ln/>
        </p:spPr>
        <p:txBody>
          <a:bodyPr wrap="square" lIns="0" tIns="0" rIns="0" bIns="0" rtlCol="0" anchor="ctr"/>
          <a:lstStyle/>
          <a:p>
            <a:pPr indent="0" marL="0">
              <a:lnSpc>
                <a:spcPts val="1600"/>
              </a:lnSpc>
              <a:buNone/>
            </a:pPr>
            <a:r>
              <a:rPr lang="en-US" sz="1200" dirty="0">
                <a:solidFill>
                  <a:srgbClr val="9FB3BD"/>
                </a:solidFill>
                <a:latin typeface="Calibri" pitchFamily="34" charset="0"/>
                <a:ea typeface="Calibri" pitchFamily="34" charset="-122"/>
                <a:cs typeface="Calibri" pitchFamily="34" charset="-120"/>
              </a:rPr>
              <a:t>validated 1080×1920 ads delivered</a:t>
            </a:r>
            <a:endParaRPr lang="en-US" sz="1200" dirty="0"/>
          </a:p>
        </p:txBody>
      </p:sp>
      <p:sp>
        <p:nvSpPr>
          <p:cNvPr id="12" name="Shape 10"/>
          <p:cNvSpPr/>
          <p:nvPr/>
        </p:nvSpPr>
        <p:spPr>
          <a:xfrm>
            <a:off x="566928" y="4206240"/>
            <a:ext cx="11027664" cy="10973"/>
          </a:xfrm>
          <a:prstGeom prst="rect">
            <a:avLst/>
          </a:prstGeom>
          <a:solidFill>
            <a:srgbClr val="2B3A44"/>
          </a:solidFill>
          <a:ln/>
        </p:spPr>
      </p:sp>
      <p:sp>
        <p:nvSpPr>
          <p:cNvPr id="13" name="Text 11"/>
          <p:cNvSpPr/>
          <p:nvPr/>
        </p:nvSpPr>
        <p:spPr>
          <a:xfrm>
            <a:off x="566928" y="4480560"/>
            <a:ext cx="51206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it matters for Kaladhar</a:t>
            </a:r>
            <a:endParaRPr lang="en-US" sz="1300" dirty="0"/>
          </a:p>
        </p:txBody>
      </p:sp>
      <p:sp>
        <p:nvSpPr>
          <p:cNvPr id="14" name="Text 12"/>
          <p:cNvSpPr/>
          <p:nvPr/>
        </p:nvSpPr>
        <p:spPr>
          <a:xfrm>
            <a:off x="566928" y="4846320"/>
            <a:ext cx="5394960" cy="1188720"/>
          </a:xfrm>
          <a:prstGeom prst="rect">
            <a:avLst/>
          </a:prstGeom>
          <a:noFill/>
          <a:ln/>
        </p:spPr>
        <p:txBody>
          <a:bodyPr wrap="square" lIns="0" tIns="0" rIns="0" bIns="0" rtlCol="0" anchor="ctr"/>
          <a:lstStyle/>
          <a:p>
            <a:pPr indent="0" marL="0">
              <a:lnSpc>
                <a:spcPts val="1700"/>
              </a:lnSpc>
              <a:buNone/>
            </a:pPr>
            <a:r>
              <a:rPr lang="en-US" sz="1250" dirty="0">
                <a:solidFill>
                  <a:srgbClr val="C9D6DC"/>
                </a:solidFill>
                <a:latin typeface="Calibri" pitchFamily="34" charset="0"/>
                <a:ea typeface="Calibri" pitchFamily="34" charset="-122"/>
                <a:cs typeface="Calibri" pitchFamily="34" charset="-120"/>
              </a:rPr>
              <a:t>Ads can be produced from one photograph instead of a reshoot — and every one that ships has been measured against the real product, per frame, inside the garment. Anything that misrepresents it is stopped before delivery.</a:t>
            </a:r>
            <a:endParaRPr lang="en-US" sz="1250" dirty="0"/>
          </a:p>
        </p:txBody>
      </p:sp>
      <p:sp>
        <p:nvSpPr>
          <p:cNvPr id="15" name="Text 13"/>
          <p:cNvSpPr/>
          <p:nvPr/>
        </p:nvSpPr>
        <p:spPr>
          <a:xfrm>
            <a:off x="6400800" y="4480560"/>
            <a:ext cx="51206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result we'd point a judge at</a:t>
            </a:r>
            <a:endParaRPr lang="en-US" sz="1300" dirty="0"/>
          </a:p>
        </p:txBody>
      </p:sp>
      <p:sp>
        <p:nvSpPr>
          <p:cNvPr id="16" name="Text 14"/>
          <p:cNvSpPr/>
          <p:nvPr/>
        </p:nvSpPr>
        <p:spPr>
          <a:xfrm>
            <a:off x="6400800" y="4846320"/>
            <a:ext cx="5166360" cy="1188720"/>
          </a:xfrm>
          <a:prstGeom prst="rect">
            <a:avLst/>
          </a:prstGeom>
          <a:noFill/>
          <a:ln/>
        </p:spPr>
        <p:txBody>
          <a:bodyPr wrap="square" lIns="0" tIns="0" rIns="0" bIns="0" rtlCol="0" anchor="ctr"/>
          <a:lstStyle/>
          <a:p>
            <a:pPr indent="0" marL="0">
              <a:lnSpc>
                <a:spcPts val="1700"/>
              </a:lnSpc>
              <a:buNone/>
            </a:pPr>
            <a:r>
              <a:rPr lang="en-US" sz="1250" dirty="0">
                <a:solidFill>
                  <a:srgbClr val="C9D6DC"/>
                </a:solidFill>
                <a:latin typeface="Calibri" pitchFamily="34" charset="0"/>
                <a:ea typeface="Calibri" pitchFamily="34" charset="-122"/>
                <a:cs typeface="Calibri" pitchFamily="34" charset="-120"/>
              </a:rPr>
              <a:t>The most visually distinct video in our set was the one the fidelity gate rejected. Chasing variety alone would have shipped the ad that misrepresents the saree. That is the case for two gates, and the measurements made it, not us.</a:t>
            </a:r>
            <a:endParaRPr lang="en-US" sz="1250" dirty="0"/>
          </a:p>
        </p:txBody>
      </p:sp>
      <p:sp>
        <p:nvSpPr>
          <p:cNvPr id="17" name="Text 15"/>
          <p:cNvSpPr/>
          <p:nvPr/>
        </p:nvSpPr>
        <p:spPr>
          <a:xfrm>
            <a:off x="566928" y="6263640"/>
            <a:ext cx="11027664" cy="274320"/>
          </a:xfrm>
          <a:prstGeom prst="rect">
            <a:avLst/>
          </a:prstGeom>
          <a:noFill/>
          <a:ln/>
        </p:spPr>
        <p:txBody>
          <a:bodyPr wrap="square" lIns="0" tIns="0" rIns="0" bIns="0" rtlCol="0" anchor="ctr"/>
          <a:lstStyle/>
          <a:p>
            <a:pPr indent="0" marL="0">
              <a:buNone/>
            </a:pPr>
            <a:r>
              <a:rPr lang="en-US" sz="1050" dirty="0">
                <a:solidFill>
                  <a:srgbClr val="6A7B87"/>
                </a:solidFill>
                <a:latin typeface="Calibri" pitchFamily="34" charset="0"/>
                <a:ea typeface="Calibri" pitchFamily="34" charset="-122"/>
                <a:cs typeface="Calibri" pitchFamily="34" charset="-120"/>
              </a:rPr>
              <a:t>Team Code Blooded  ·  Product Fidelity Studio  ·  Milestone 3</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Fidelity Studio — Milestone 3</dc:title>
  <dc:subject>PptxGenJS Presentation</dc:subject>
  <dc:creator>Team Code Blooded</dc:creator>
  <cp:lastModifiedBy>Team Code Blooded</cp:lastModifiedBy>
  <cp:revision>1</cp:revision>
  <dcterms:created xsi:type="dcterms:W3CDTF">2026-08-22T16:36:07Z</dcterms:created>
  <dcterms:modified xsi:type="dcterms:W3CDTF">2026-08-22T16:36:07Z</dcterms:modified>
</cp:coreProperties>
</file>